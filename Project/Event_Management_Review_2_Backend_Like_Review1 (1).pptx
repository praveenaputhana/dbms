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83879" y="-274320"/>
            <a:ext cx="4297680" cy="7315200"/>
          </a:xfrm>
          <a:prstGeom prst="rect">
            <a:avLst/>
          </a:prstGeom>
          <a:solidFill>
            <a:srgbClr val="1F233E"/>
          </a:solidFill>
          <a:ln>
            <a:solidFill>
              <a:srgbClr val="1F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320040"/>
            <a:ext cx="3154680" cy="6217920"/>
          </a:xfrm>
          <a:prstGeom prst="rect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5440" y="777240"/>
            <a:ext cx="2240280" cy="5303520"/>
          </a:xfrm>
          <a:prstGeom prst="roundRect">
            <a:avLst/>
          </a:prstGeom>
          <a:solidFill>
            <a:srgbClr val="0A0C1C"/>
          </a:solidFill>
          <a:ln>
            <a:solidFill>
              <a:srgbClr val="0A0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93808" y="1325880"/>
            <a:ext cx="1005840" cy="1005840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1325880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278892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6D3D6"/>
                </a:solidFill>
                <a:latin typeface="Aptos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3182112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AAB0CD"/>
                </a:solidFill>
                <a:latin typeface="Aptos"/>
              </a:rPr>
              <a:t>DATABASE • APIs •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943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D6"/>
                </a:solidFill>
                <a:latin typeface="Aptos"/>
              </a:rPr>
              <a:t>REVIEW - 2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097280"/>
            <a:ext cx="68580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5F7FF"/>
                </a:solidFill>
                <a:latin typeface="Aptos"/>
              </a:rPr>
              <a:t>Event Management
Mobile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560320"/>
            <a:ext cx="6629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7E57FF"/>
                </a:solidFill>
                <a:latin typeface="Aptos"/>
              </a:rPr>
              <a:t>Backend Development for Attendee Self-Service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10128"/>
            <a:ext cx="6400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AB0CD"/>
                </a:solidFill>
                <a:latin typeface="Aptos"/>
              </a:rPr>
              <a:t>Connecting the Review 1 frontend with real data, server-side logic and database operations.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348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DBMS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0CD"/>
                </a:solidFill>
                <a:latin typeface="Aptos"/>
              </a:rPr>
              <a:t>TEAM 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66360"/>
            <a:ext cx="6217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F"/>
                </a:solidFill>
                <a:latin typeface="Aptos"/>
              </a:rPr>
              <a:t>P. Srija — 2520090053
P. Praveena — 2520090057
D. Varun Teja Reddy — 2520090221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Backend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What Review 2 adds to the frontend presented earlier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EVENT MANAGEMENT • ATTENDEE SELF-SERVICE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303520" cy="416052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4160520"/>
          </a:xfrm>
          <a:prstGeom prst="roundRect">
            <a:avLst/>
          </a:prstGeom>
          <a:solidFill>
            <a:srgbClr val="1F233E"/>
          </a:solidFill>
          <a:ln>
            <a:solidFill>
              <a:srgbClr val="1F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D6"/>
                </a:solidFill>
                <a:latin typeface="Aptos"/>
              </a:rPr>
              <a:t>FROM REVIEW 1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65176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5176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User interface and navigation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291839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91839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91839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Event browsing and booking screens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93192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3192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3192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Attendee and admin flows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457200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5720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57200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Responsive application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1031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E57FF"/>
                </a:solidFill>
                <a:latin typeface="Aptos"/>
              </a:rPr>
              <a:t>REVIEW 2 FOCUS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2606040"/>
            <a:ext cx="292608" cy="292608"/>
          </a:xfrm>
          <a:prstGeom prst="ellipse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60604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596896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Real database storage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3108960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10896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099815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Server-side business logic</a:t>
            </a:r>
          </a:p>
        </p:txBody>
      </p:sp>
      <p:sp>
        <p:nvSpPr>
          <p:cNvPr id="29" name="Oval 28"/>
          <p:cNvSpPr/>
          <p:nvPr/>
        </p:nvSpPr>
        <p:spPr>
          <a:xfrm>
            <a:off x="6492240" y="3611880"/>
            <a:ext cx="292608" cy="292608"/>
          </a:xfrm>
          <a:prstGeom prst="ellipse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61188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602736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Secure login and roles</a:t>
            </a:r>
          </a:p>
        </p:txBody>
      </p:sp>
      <p:sp>
        <p:nvSpPr>
          <p:cNvPr id="32" name="Oval 31"/>
          <p:cNvSpPr/>
          <p:nvPr/>
        </p:nvSpPr>
        <p:spPr>
          <a:xfrm>
            <a:off x="6492240" y="4114800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1148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105656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REST APIs</a:t>
            </a:r>
          </a:p>
        </p:txBody>
      </p:sp>
      <p:sp>
        <p:nvSpPr>
          <p:cNvPr id="35" name="Oval 34"/>
          <p:cNvSpPr/>
          <p:nvPr/>
        </p:nvSpPr>
        <p:spPr>
          <a:xfrm>
            <a:off x="6492240" y="4617720"/>
            <a:ext cx="292608" cy="292608"/>
          </a:xfrm>
          <a:prstGeom prst="ellipse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61772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608576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Booking and QR verification</a:t>
            </a:r>
          </a:p>
        </p:txBody>
      </p:sp>
      <p:sp>
        <p:nvSpPr>
          <p:cNvPr id="38" name="Oval 37"/>
          <p:cNvSpPr/>
          <p:nvPr/>
        </p:nvSpPr>
        <p:spPr>
          <a:xfrm>
            <a:off x="6492240" y="5120640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512064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5111496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Validation and error handling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Backend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Simple request → processing → database flow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EVENT MANAGEMENT • ATTENDEE SELF-SERVICE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2057400" cy="1234440"/>
          </a:xfrm>
          <a:prstGeom prst="roundRect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7860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7FF"/>
                </a:solidFill>
                <a:latin typeface="Aptos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07792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5F7FF"/>
                </a:solidFill>
                <a:latin typeface="Aptos"/>
              </a:rPr>
              <a:t>Attendee /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1" y="27432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AB0CD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331720"/>
            <a:ext cx="2057400" cy="1234440"/>
          </a:xfrm>
          <a:prstGeom prst="roundRect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57860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7FF"/>
                </a:solidFill>
                <a:latin typeface="Aptos"/>
              </a:rPr>
              <a:t>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907792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5F7FF"/>
                </a:solidFill>
                <a:latin typeface="Aptos"/>
              </a:rPr>
              <a:t>Web / 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2392" y="27432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AB0CD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2331720"/>
            <a:ext cx="2057400" cy="1234440"/>
          </a:xfrm>
          <a:prstGeom prst="roundRect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59" y="257860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7FF"/>
                </a:solidFill>
                <a:latin typeface="Aptos"/>
              </a:rPr>
              <a:t>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9" y="2907792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5F7FF"/>
                </a:solidFill>
                <a:latin typeface="Aptos"/>
              </a:rPr>
              <a:t>Request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27432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AB0CD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2331720"/>
            <a:ext cx="2057400" cy="1234440"/>
          </a:xfrm>
          <a:prstGeom prst="roundRect">
            <a:avLst/>
          </a:prstGeom>
          <a:solidFill>
            <a:srgbClr val="36D3D6"/>
          </a:solidFill>
          <a:ln>
            <a:solidFill>
              <a:srgbClr val="36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57860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7FF"/>
                </a:solidFill>
                <a:latin typeface="Aptos"/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907792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5F7FF"/>
                </a:solidFill>
                <a:latin typeface="Aptos"/>
              </a:rPr>
              <a:t>Stored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4251960"/>
            <a:ext cx="8412480" cy="1143000"/>
          </a:xfrm>
          <a:prstGeom prst="roundRect">
            <a:avLst/>
          </a:prstGeom>
          <a:solidFill>
            <a:srgbClr val="1F233E"/>
          </a:solidFill>
          <a:ln>
            <a:solidFill>
              <a:srgbClr val="1F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8840" y="4480560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6D3D6"/>
                </a:solidFill>
                <a:latin typeface="Aptos"/>
              </a:rPr>
              <a:t>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48056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7FF"/>
                </a:solidFill>
                <a:latin typeface="Aptos"/>
              </a:rPr>
              <a:t>Login • Browse • Book • Check-in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4480560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4C98B"/>
                </a:solidFill>
                <a:latin typeface="Apto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480560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7FF"/>
                </a:solidFill>
                <a:latin typeface="Aptos"/>
              </a:rPr>
              <a:t>Validate • Apply rules • Save / Retrieve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4892040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E57FF"/>
                </a:solidFill>
                <a:latin typeface="Aptos"/>
              </a:rPr>
              <a:t>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892040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0CD"/>
                </a:solidFill>
                <a:latin typeface="Aptos"/>
              </a:rPr>
              <a:t>Success response • Updated data • Error message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Main data entities used by the event management system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EVENT MANAGEMENT • ATTENDEE SELF-SERVICE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429000" cy="160020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29000" cy="384048"/>
          </a:xfrm>
          <a:prstGeom prst="roundRect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83664"/>
            <a:ext cx="3429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F"/>
                </a:solidFill>
                <a:latin typeface="Aptos"/>
              </a:rPr>
              <a:t>• Name
• Email
• Password
• Role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429000" cy="160020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1828800"/>
            <a:ext cx="3429000" cy="384048"/>
          </a:xfrm>
          <a:prstGeom prst="roundRect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883664"/>
            <a:ext cx="3429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37744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F"/>
                </a:solidFill>
                <a:latin typeface="Aptos"/>
              </a:rPr>
              <a:t>• Title
• Date / Time
• Venue
• Capacity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828800"/>
            <a:ext cx="3429000" cy="160020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75320" y="1828800"/>
            <a:ext cx="3429000" cy="384048"/>
          </a:xfrm>
          <a:prstGeom prst="roundRect">
            <a:avLst/>
          </a:prstGeom>
          <a:solidFill>
            <a:srgbClr val="36D3D6"/>
          </a:solidFill>
          <a:ln>
            <a:solidFill>
              <a:srgbClr val="36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883664"/>
            <a:ext cx="3429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BOOKINGS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37744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F"/>
                </a:solidFill>
                <a:latin typeface="Aptos"/>
              </a:rPr>
              <a:t>• Booking ID
• User
• Event
• Ticket Type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86200"/>
            <a:ext cx="3429000" cy="160020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886200"/>
            <a:ext cx="3429000" cy="384048"/>
          </a:xfrm>
          <a:prstGeom prst="roundRect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41063"/>
            <a:ext cx="3429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TICKETS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3484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F"/>
                </a:solidFill>
                <a:latin typeface="Aptos"/>
              </a:rPr>
              <a:t>• Ticket ID
• QR Code
• Status
• Check-in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886200"/>
            <a:ext cx="3429000" cy="160020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80560" y="3886200"/>
            <a:ext cx="3429000" cy="384048"/>
          </a:xfrm>
          <a:prstGeom prst="roundRect">
            <a:avLst/>
          </a:prstGeom>
          <a:solidFill>
            <a:srgbClr val="EB5B99"/>
          </a:solidFill>
          <a:ln>
            <a:solidFill>
              <a:srgbClr val="EB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941063"/>
            <a:ext cx="3429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43484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F"/>
                </a:solidFill>
                <a:latin typeface="Aptos"/>
              </a:rPr>
              <a:t>• User
• Event
• Rating
• Comment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886200"/>
            <a:ext cx="3429000" cy="160020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75320" y="3886200"/>
            <a:ext cx="3429000" cy="384048"/>
          </a:xfrm>
          <a:prstGeom prst="roundRect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3941063"/>
            <a:ext cx="3429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NOTIFICATIONS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43484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F"/>
                </a:solidFill>
                <a:latin typeface="Aptos"/>
              </a:rPr>
              <a:t>• User
• Event
• Message
• Read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Authentication &amp; Authorization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Controlling who can access the system and what they can do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EVENT MANAGEMENT • ATTENDEE SELF-SERVICE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303520" cy="411480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4114800"/>
          </a:xfrm>
          <a:prstGeom prst="roundRect">
            <a:avLst/>
          </a:prstGeom>
          <a:solidFill>
            <a:srgbClr val="1F233E"/>
          </a:solidFill>
          <a:ln>
            <a:solidFill>
              <a:srgbClr val="1F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6D3D6"/>
                </a:solidFill>
                <a:latin typeface="Aptos"/>
              </a:rPr>
              <a:t>AUTHENTICATION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65176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51760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F"/>
                </a:solidFill>
                <a:latin typeface="Aptos"/>
              </a:rPr>
              <a:t>Register with valid details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310128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10128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10128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F"/>
                </a:solidFill>
                <a:latin typeface="Aptos"/>
              </a:rPr>
              <a:t>Hash password before storing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968496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68496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68496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F"/>
                </a:solidFill>
                <a:latin typeface="Aptos"/>
              </a:rPr>
              <a:t>Login with email and password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4626864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62686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26864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F"/>
                </a:solidFill>
                <a:latin typeface="Aptos"/>
              </a:rPr>
              <a:t>Create authenticated session/token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1031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E57FF"/>
                </a:solidFill>
                <a:latin typeface="Aptos"/>
              </a:rPr>
              <a:t>AUTHORIZATION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2651760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65176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65176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Attendee access → browse, book, ticket, feedback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3310128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310128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310128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Admin access → manage events and attendees</a:t>
            </a:r>
          </a:p>
        </p:txBody>
      </p:sp>
      <p:sp>
        <p:nvSpPr>
          <p:cNvPr id="29" name="Oval 28"/>
          <p:cNvSpPr/>
          <p:nvPr/>
        </p:nvSpPr>
        <p:spPr>
          <a:xfrm>
            <a:off x="6492240" y="3968496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968496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968496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Protect private API routes</a:t>
            </a:r>
          </a:p>
        </p:txBody>
      </p:sp>
      <p:sp>
        <p:nvSpPr>
          <p:cNvPr id="32" name="Oval 31"/>
          <p:cNvSpPr/>
          <p:nvPr/>
        </p:nvSpPr>
        <p:spPr>
          <a:xfrm>
            <a:off x="6492240" y="4626864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62686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62686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Reject unauthorized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REST API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Endpoints used to connect the frontend with backend operations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EVENT MANAGEMENT • ATTENDEE SELF-SERVICE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835640" cy="429768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6D3D6"/>
                </a:solidFill>
                <a:latin typeface="Aptos"/>
              </a:rPr>
              <a:t>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874519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E57FF"/>
                </a:solidFill>
                <a:latin typeface="Aptos"/>
              </a:rP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874519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F"/>
                </a:solidFill>
                <a:latin typeface="Aptos"/>
              </a:rPr>
              <a:t>/api/auth/register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874519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0CD"/>
                </a:solidFill>
                <a:latin typeface="Aptos"/>
              </a:rPr>
              <a:t>Create 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04288"/>
            <a:ext cx="10835640" cy="429768"/>
          </a:xfrm>
          <a:prstGeom prst="roundRect">
            <a:avLst/>
          </a:prstGeom>
          <a:solidFill>
            <a:srgbClr val="1F233E"/>
          </a:solidFill>
          <a:ln>
            <a:solidFill>
              <a:srgbClr val="1F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95728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6D3D6"/>
                </a:solidFill>
                <a:latin typeface="Aptos"/>
              </a:rPr>
              <a:t>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39572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E57FF"/>
                </a:solidFill>
                <a:latin typeface="Aptos"/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395728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F"/>
                </a:solidFill>
                <a:latin typeface="Aptos"/>
              </a:rPr>
              <a:t>/api/auth/login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395728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0CD"/>
                </a:solidFill>
                <a:latin typeface="Aptos"/>
              </a:rPr>
              <a:t>Login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25496"/>
            <a:ext cx="10835640" cy="429768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16936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6D3D6"/>
                </a:solidFill>
                <a:latin typeface="Aptos"/>
              </a:rPr>
              <a:t>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916936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E57FF"/>
                </a:solidFill>
                <a:latin typeface="Aptos"/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916936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F"/>
                </a:solidFill>
                <a:latin typeface="Aptos"/>
              </a:rPr>
              <a:t>/api/events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916936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0CD"/>
                </a:solidFill>
                <a:latin typeface="Aptos"/>
              </a:rPr>
              <a:t>List events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346704"/>
            <a:ext cx="10835640" cy="429768"/>
          </a:xfrm>
          <a:prstGeom prst="roundRect">
            <a:avLst/>
          </a:prstGeom>
          <a:solidFill>
            <a:srgbClr val="1F233E"/>
          </a:solidFill>
          <a:ln>
            <a:solidFill>
              <a:srgbClr val="1F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438144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6D3D6"/>
                </a:solidFill>
                <a:latin typeface="Aptos"/>
              </a:rPr>
              <a:t>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3438144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E57FF"/>
                </a:solidFill>
                <a:latin typeface="Aptos"/>
              </a:rP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438144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F"/>
                </a:solidFill>
                <a:latin typeface="Aptos"/>
              </a:rPr>
              <a:t>/api/events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438144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0CD"/>
                </a:solidFill>
                <a:latin typeface="Aptos"/>
              </a:rPr>
              <a:t>Create event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867911"/>
            <a:ext cx="10835640" cy="429768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959351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6D3D6"/>
                </a:solidFill>
                <a:latin typeface="Aptos"/>
              </a:rPr>
              <a:t>BOOKINGS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3959351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E57FF"/>
                </a:solidFill>
                <a:latin typeface="Aptos"/>
              </a:rP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3959351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F"/>
                </a:solidFill>
                <a:latin typeface="Aptos"/>
              </a:rPr>
              <a:t>/api/bookings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959351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0CD"/>
                </a:solidFill>
                <a:latin typeface="Aptos"/>
              </a:rPr>
              <a:t>Create booking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389120"/>
            <a:ext cx="10835640" cy="429768"/>
          </a:xfrm>
          <a:prstGeom prst="roundRect">
            <a:avLst/>
          </a:prstGeom>
          <a:solidFill>
            <a:srgbClr val="1F233E"/>
          </a:solidFill>
          <a:ln>
            <a:solidFill>
              <a:srgbClr val="1F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480559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6D3D6"/>
                </a:solidFill>
                <a:latin typeface="Aptos"/>
              </a:rPr>
              <a:t>TICKETS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4480559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E57FF"/>
                </a:solidFill>
                <a:latin typeface="Aptos"/>
              </a:rP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4480559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F"/>
                </a:solidFill>
                <a:latin typeface="Aptos"/>
              </a:rPr>
              <a:t>/api/tickets/:id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480559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0CD"/>
                </a:solidFill>
                <a:latin typeface="Aptos"/>
              </a:rPr>
              <a:t>View ticket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910328"/>
            <a:ext cx="10835640" cy="429768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001768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6D3D6"/>
                </a:solidFill>
                <a:latin typeface="Aptos"/>
              </a:rPr>
              <a:t>CHECK-IN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40" y="500176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E57FF"/>
                </a:solidFill>
                <a:latin typeface="Aptos"/>
              </a:rPr>
              <a:t>POST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5001768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F"/>
                </a:solidFill>
                <a:latin typeface="Aptos"/>
              </a:rPr>
              <a:t>/api/checkin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5001768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0CD"/>
                </a:solidFill>
                <a:latin typeface="Aptos"/>
              </a:rPr>
              <a:t>Verify ticket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5431536"/>
            <a:ext cx="10835640" cy="429768"/>
          </a:xfrm>
          <a:prstGeom prst="roundRect">
            <a:avLst/>
          </a:prstGeom>
          <a:solidFill>
            <a:srgbClr val="1F233E"/>
          </a:solidFill>
          <a:ln>
            <a:solidFill>
              <a:srgbClr val="1F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522975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6D3D6"/>
                </a:solidFill>
                <a:latin typeface="Aptos"/>
              </a:rPr>
              <a:t>FEEDBACK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48840" y="5522975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E57FF"/>
                </a:solidFill>
                <a:latin typeface="Aptos"/>
              </a:rPr>
              <a:t>POST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0" y="5522975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F"/>
                </a:solidFill>
                <a:latin typeface="Aptos"/>
              </a:rPr>
              <a:t>/api/feedback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5522975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0CD"/>
                </a:solidFill>
                <a:latin typeface="Aptos"/>
              </a:rPr>
              <a:t>Submit feedback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608076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5F7FF"/>
                </a:solidFill>
                <a:latin typeface="Aptos"/>
              </a:rPr>
              <a:t>Every API should validate input, check permissions, perform the operation and return a clear response.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Event, Booking &amp; QR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How the backend processes the main self-service actions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EVENT MANAGEMENT • ATTENDEE SELF-SERVICE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423160" cy="141732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993392"/>
            <a:ext cx="475488" cy="47548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93392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057400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F"/>
                </a:solidFill>
                <a:latin typeface="Aptos"/>
              </a:rPr>
              <a:t>Create / publish event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783080"/>
            <a:ext cx="2423160" cy="141732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85031" y="1993392"/>
            <a:ext cx="475488" cy="475488"/>
          </a:xfrm>
          <a:prstGeom prst="ellipse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1" y="1993392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2057400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F"/>
                </a:solidFill>
                <a:latin typeface="Aptos"/>
              </a:rPr>
              <a:t>Attendee selects ticket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783080"/>
            <a:ext cx="2423160" cy="141732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1" y="1993392"/>
            <a:ext cx="475488" cy="475488"/>
          </a:xfrm>
          <a:prstGeom prst="ellipse">
            <a:avLst/>
          </a:prstGeom>
          <a:solidFill>
            <a:srgbClr val="36D3D6"/>
          </a:solidFill>
          <a:ln>
            <a:solidFill>
              <a:srgbClr val="36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1" y="1993392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2057400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F"/>
                </a:solidFill>
                <a:latin typeface="Aptos"/>
              </a:rPr>
              <a:t>Backend checks availability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783080"/>
            <a:ext cx="2423160" cy="141732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62872" y="1993392"/>
            <a:ext cx="475488" cy="47548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1993392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48088" y="2057400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F"/>
                </a:solidFill>
                <a:latin typeface="Aptos"/>
              </a:rPr>
              <a:t>Create booking + ticket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94760"/>
            <a:ext cx="2423160" cy="141732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96112" y="4005072"/>
            <a:ext cx="475488" cy="475488"/>
          </a:xfrm>
          <a:prstGeom prst="ellipse">
            <a:avLst/>
          </a:prstGeom>
          <a:solidFill>
            <a:srgbClr val="EB5B99"/>
          </a:solidFill>
          <a:ln>
            <a:solidFill>
              <a:srgbClr val="EB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005072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069080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F"/>
                </a:solidFill>
                <a:latin typeface="Aptos"/>
              </a:rPr>
              <a:t>Generate QR code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39" y="3794760"/>
            <a:ext cx="2423160" cy="141732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685031" y="4005072"/>
            <a:ext cx="475488" cy="47548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85031" y="4005072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4069080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F"/>
                </a:solidFill>
                <a:latin typeface="Aptos"/>
              </a:rPr>
              <a:t>Admin verifies QR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59" y="3794760"/>
            <a:ext cx="2423160" cy="141732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73951" y="4005072"/>
            <a:ext cx="475488" cy="47548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1" y="4005072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9168" y="4069080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F"/>
                </a:solidFill>
                <a:latin typeface="Aptos"/>
              </a:rPr>
              <a:t>Save check-in status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17320" y="5897880"/>
            <a:ext cx="9372600" cy="384048"/>
          </a:xfrm>
          <a:prstGeom prst="roundRect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00200" y="5952744"/>
            <a:ext cx="9006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5F7FF"/>
                </a:solidFill>
                <a:latin typeface="Aptos"/>
              </a:rPr>
              <a:t>BOOKING  →  TICKET  →  QR  →  VERIFY  →  CHECK-IN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Checks to make sure the backend behaves correctly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EVENT MANAGEMENT • ATTENDEE SELF-SERVICE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257800" cy="164592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8483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6D3D6"/>
                </a:solidFill>
                <a:latin typeface="Aptos"/>
              </a:rP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4206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F"/>
                </a:solidFill>
                <a:latin typeface="Aptos"/>
              </a:rPr>
              <a:t>Valid/invalid login
Role protection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257800" cy="164592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08483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991FF"/>
                </a:solidFill>
                <a:latin typeface="Aptos"/>
              </a:rPr>
              <a:t>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206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F"/>
                </a:solidFill>
                <a:latin typeface="Aptos"/>
              </a:rPr>
              <a:t>Create / update / delete
Capacity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40480"/>
            <a:ext cx="5257800" cy="164592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E57FF"/>
                </a:solidFill>
                <a:latin typeface="Aptos"/>
              </a:rPr>
              <a:t>Bookings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617720"/>
            <a:ext cx="4206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F"/>
                </a:solidFill>
                <a:latin typeface="Aptos"/>
              </a:rPr>
              <a:t>Successful booking
Duplicate/invalid request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840480"/>
            <a:ext cx="5257800" cy="164592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40965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C98B"/>
                </a:solidFill>
                <a:latin typeface="Aptos"/>
              </a:rPr>
              <a:t>QR Check-in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617720"/>
            <a:ext cx="4206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F"/>
                </a:solidFill>
                <a:latin typeface="Aptos"/>
              </a:rPr>
              <a:t>Valid ticket
Already checked-in ticket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6D3D6"/>
                </a:solidFill>
                <a:latin typeface="Aptos"/>
              </a:rPr>
              <a:t>Expected: valid requests succeed, invalid requests are rejected, and database records remain consistent.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Review 2 connects the user interface to a functional backend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EVENT MANAGEMENT • ATTENDEE SELF-SERVICE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6812280" cy="388620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D6"/>
                </a:solidFill>
                <a:latin typeface="Aptos"/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269748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88336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F"/>
                </a:solidFill>
                <a:latin typeface="Aptos"/>
              </a:rPr>
              <a:t>Real data is stored in the database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3264408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64408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55264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F"/>
                </a:solidFill>
                <a:latin typeface="Aptos"/>
              </a:rPr>
              <a:t>Backend handles business logic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3831336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831336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822191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F"/>
                </a:solidFill>
                <a:latin typeface="Aptos"/>
              </a:rPr>
              <a:t>APIs connect frontend and database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4398264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39826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38912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F"/>
                </a:solidFill>
                <a:latin typeface="Aptos"/>
              </a:rPr>
              <a:t>Authentication protects user accounts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" y="4965192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9651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956048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F"/>
                </a:solidFill>
                <a:latin typeface="Aptos"/>
              </a:rPr>
              <a:t>QR verification supports event entry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1828800"/>
            <a:ext cx="3337560" cy="3886200"/>
          </a:xfrm>
          <a:prstGeom prst="roundRect">
            <a:avLst/>
          </a:prstGeom>
          <a:solidFill>
            <a:srgbClr val="1F233E"/>
          </a:solidFill>
          <a:ln>
            <a:solidFill>
              <a:srgbClr val="1F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194560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7E57FF"/>
                </a:solidFill>
                <a:latin typeface="Aptos"/>
              </a:rPr>
              <a:t>REVIEW 2 GOAL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78892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5F7FF"/>
                </a:solidFill>
                <a:latin typeface="Aptos"/>
              </a:rPr>
              <a:t>FRONTEND
+
BACKEND
+
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8932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F"/>
                </a:solidFill>
                <a:latin typeface="Aptos"/>
              </a:rPr>
              <a:t>THANK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605332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0CD"/>
                </a:solidFill>
                <a:latin typeface="Apto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