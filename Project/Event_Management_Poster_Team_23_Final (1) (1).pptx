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6be8eadd734949" /><Relationship Type="http://schemas.openxmlformats.org/officeDocument/2006/relationships/extended-properties" Target="/docProps/app.xml" Id="Rd48a625921af440e" /><Relationship Type="http://schemas.openxmlformats.org/officeDocument/2006/relationships/officeDocument" Target="/ppt/presentation.xml" Id="Rf6ed748911b34182" /></Relationships>
</file>

<file path=ppt/presentation.xml><?xml version="1.0" encoding="utf-8"?>
<p:presentation xmlns:p="http://schemas.openxmlformats.org/presentationml/2006/main">
  <p:sldMasterIdLst>
    <p:sldMasterId xmlns:r="http://schemas.openxmlformats.org/officeDocument/2006/relationships" id="2147483648" r:id="R1b64b2de09764db4"/>
  </p:sldMasterIdLst>
  <p:notesMasterIdLst>
    <p:notesMasterId xmlns:r="http://schemas.openxmlformats.org/officeDocument/2006/relationships" r:id="Rb4ef48e334ba4afd"/>
  </p:notesMasterIdLst>
  <p:sldIdLst>
    <p:sldId xmlns:r="http://schemas.openxmlformats.org/officeDocument/2006/relationships" id="256" r:id="R54af224cb8a14da9"/>
  </p:sldIdLst>
  <p:sldSz cx="10693908" cy="15137892"/>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ef16f69cc0542d0" /><Relationship Type="http://schemas.openxmlformats.org/officeDocument/2006/relationships/slideMaster" Target="/ppt/slideMasters/slideMaster1.xml" Id="R1b64b2de09764db4" /><Relationship Type="http://schemas.openxmlformats.org/officeDocument/2006/relationships/notesMaster" Target="/ppt/notesMasters/notesMaster1.xml" Id="Rb4ef48e334ba4afd" /><Relationship Type="http://schemas.openxmlformats.org/officeDocument/2006/relationships/presProps" Target="/ppt/presProps.xml" Id="Racc09b05555c4db5" /><Relationship Type="http://schemas.openxmlformats.org/officeDocument/2006/relationships/viewProps" Target="/ppt/viewProps.xml" Id="Rd682a17b14064b28" /><Relationship Type="http://schemas.openxmlformats.org/officeDocument/2006/relationships/tableStyles" Target="/ppt/tableStyles.xml" Id="R19cfbc9a438b497d" /><Relationship Type="http://schemas.openxmlformats.org/officeDocument/2006/relationships/slide" Target="/ppt/slides/slide1.xml" Id="R54af224cb8a14d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7a1f2d52b14d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c01be6337644a1" /><Relationship Type="http://schemas.openxmlformats.org/officeDocument/2006/relationships/notesMaster" Target="/ppt/notesMasters/notesMaster1.xml" Id="R85f86fea657c45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sources: uploaded Review 1 and Review 2 PPTX files, README.md and DBMS_REVIEW_GUIDE(1).md. KLH logo reused from the uploaded Review 2 presentation. Current README specifies React/Express/MySQL and Razorpay test mode. The earlier abstract lists Android/Java; the poster follows the latest web project documentation. Team number 23 and Section 12 follow the current user instruction. No website screenshots, guide name, public repository URL or executed test report were supplied. Implementation Features replaces screenshot placeholders. ER diagram shows core entities only. Validation items are review checks, not independently measured test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3cc5f38d8a439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4360441374419a" /><Relationship Type="http://schemas.openxmlformats.org/officeDocument/2006/relationships/slideLayout" Target="/ppt/slideLayouts/slideLayout1.xml" Id="Rad3fc669e20d4c8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3fc669e20d4c8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c9a72fa4f946e3" /><Relationship Type="http://schemas.openxmlformats.org/officeDocument/2006/relationships/image" Target="/ppt/media/image.png" Id="R8583048bc0644cb9" /><Relationship Type="http://schemas.openxmlformats.org/officeDocument/2006/relationships/notesSlide" Target="/ppt/notesSlides/notesSlide1.xml" Id="R88b08184b0774bf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CAD50C6-B020-458E-BF5B-5CBB9509A5DF}"/>
              </a:ext>
            </a:extLst>
          </p:cNvPr>
          <p:cNvSpPr>
            <a:spLocks xmlns:a="http://schemas.openxmlformats.org/drawingml/2006/main" noGrp="1"/>
          </p:cNvSpPr>
          <p:nvPr/>
        </p:nvSpPr>
        <p:spPr>
          <a:xfrm xmlns:a="http://schemas.openxmlformats.org/drawingml/2006/main">
            <a:off x="0" y="0"/>
            <a:ext cx="10693908" cy="1920240"/>
          </a:xfrm>
          <a:prstGeom xmlns:a="http://schemas.openxmlformats.org/drawingml/2006/main" prst="rect">
            <a:avLst/>
          </a:prstGeom>
          <a:solidFill xmlns:a="http://schemas.openxmlformats.org/drawingml/2006/main">
            <a:srgbClr val="5B21B6"/>
          </a:solidFill>
          <a:ln xmlns:a="http://schemas.openxmlformats.org/drawingml/2006/main" w="12700">
            <a:solidFill>
              <a:srgbClr val="5B21B6"/>
            </a:solidFill>
            <a:prstDash val="solid"/>
          </a:ln>
        </p:spPr>
      </p:sp>
      <p:sp>
        <p:nvSpPr>
          <p:cNvPr id="3" name="Shape 1">
            <a:extLst xmlns:a="http://schemas.openxmlformats.org/drawingml/2006/main">
              <a:ext uri="{FF2B5EF4-FFF2-40B4-BE49-F238E27FC236}">
                <a16:creationId xmlns:a16="http://schemas.microsoft.com/office/drawing/2014/main" id="{06FE57E4-1333-4EF4-BBB0-EB952AF66AC7}"/>
              </a:ext>
            </a:extLst>
          </p:cNvPr>
          <p:cNvSpPr>
            <a:spLocks xmlns:a="http://schemas.openxmlformats.org/drawingml/2006/main" noGrp="1"/>
          </p:cNvSpPr>
          <p:nvPr/>
        </p:nvSpPr>
        <p:spPr>
          <a:xfrm xmlns:a="http://schemas.openxmlformats.org/drawingml/2006/main">
            <a:off x="365760" y="320040"/>
            <a:ext cx="1280160" cy="128016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sp>
        <p:nvSpPr>
          <p:cNvPr id="4" name="Text 2">
            <a:extLst xmlns:a="http://schemas.openxmlformats.org/drawingml/2006/main">
              <a:ext uri="{FF2B5EF4-FFF2-40B4-BE49-F238E27FC236}">
                <a16:creationId xmlns:a16="http://schemas.microsoft.com/office/drawing/2014/main" id="{2C465E7A-FED5-4C32-A1B5-D48E4CE40EAD}"/>
              </a:ext>
            </a:extLst>
          </p:cNvPr>
          <p:cNvSpPr>
            <a:spLocks xmlns:a="http://schemas.openxmlformats.org/drawingml/2006/main" noGrp="1"/>
          </p:cNvSpPr>
          <p:nvPr/>
        </p:nvSpPr>
        <p:spPr>
          <a:xfrm xmlns:a="http://schemas.openxmlformats.org/drawingml/2006/main">
            <a:off x="365760" y="320040"/>
            <a:ext cx="1280160" cy="12801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ctr">
              <a:buNone/>
            </a:pPr>
            <a:r>
              <a:rPr sz="1100">
                <a:solidFill>
                  <a:srgbClr val="94A3B8"/>
                </a:solidFill>
                <a:latin typeface="Calibri"/>
                <a:ea typeface="Calibri"/>
                <a:cs typeface="Calibri"/>
              </a:rPr>
              <a:t/>
            </a:r>
            <a:endParaRPr sz="1100"/>
          </a:p>
        </p:txBody>
      </p:sp>
      <p:sp>
        <p:nvSpPr>
          <p:cNvPr id="5" name="Text 3">
            <a:extLst xmlns:a="http://schemas.openxmlformats.org/drawingml/2006/main">
              <a:ext uri="{FF2B5EF4-FFF2-40B4-BE49-F238E27FC236}">
                <a16:creationId xmlns:a16="http://schemas.microsoft.com/office/drawing/2014/main" id="{125130B8-39F1-4154-B807-72CF9FB23DA3}"/>
              </a:ext>
            </a:extLst>
          </p:cNvPr>
          <p:cNvSpPr>
            <a:spLocks xmlns:a="http://schemas.openxmlformats.org/drawingml/2006/main" noGrp="1"/>
          </p:cNvSpPr>
          <p:nvPr/>
        </p:nvSpPr>
        <p:spPr>
          <a:xfrm xmlns:a="http://schemas.openxmlformats.org/drawingml/2006/main">
            <a:off x="1920240" y="228600"/>
            <a:ext cx="840790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400"/>
              </a:spcAft>
              <a:buNone/>
            </a:pPr>
            <a:r>
              <a:rPr sz="3350" b="1">
                <a:solidFill>
                  <a:srgbClr val="FFFFFF"/>
                </a:solidFill>
                <a:latin typeface="Calibri"/>
                <a:ea typeface="Calibri"/>
                <a:cs typeface="Calibri"/>
              </a:rPr>
              <a:t/>
            </a:r>
            <a:endParaRPr sz="3350"/>
          </a:p>
        </p:txBody>
      </p:sp>
      <p:sp>
        <p:nvSpPr>
          <p:cNvPr id="6" name="Shape 4">
            <a:extLst xmlns:a="http://schemas.openxmlformats.org/drawingml/2006/main">
              <a:ext uri="{FF2B5EF4-FFF2-40B4-BE49-F238E27FC236}">
                <a16:creationId xmlns:a16="http://schemas.microsoft.com/office/drawing/2014/main" id="{7E851219-1F82-482A-ADC1-668116ED02F9}"/>
              </a:ext>
            </a:extLst>
          </p:cNvPr>
          <p:cNvSpPr>
            <a:spLocks xmlns:a="http://schemas.openxmlformats.org/drawingml/2006/main" noGrp="1"/>
          </p:cNvSpPr>
          <p:nvPr/>
        </p:nvSpPr>
        <p:spPr>
          <a:xfrm xmlns:a="http://schemas.openxmlformats.org/drawingml/2006/main">
            <a:off x="365760" y="2103120"/>
            <a:ext cx="4844034" cy="1645920"/>
          </a:xfrm>
          <a:prstGeom xmlns:a="http://schemas.openxmlformats.org/drawingml/2006/main" prst="roundRect">
            <a:avLst>
              <a:gd name="adj" fmla="val 4167"/>
            </a:avLst>
          </a:prstGeom>
          <a:solidFill xmlns:a="http://schemas.openxmlformats.org/drawingml/2006/main">
            <a:srgbClr val="FEF3C7"/>
          </a:solidFill>
          <a:ln xmlns:a="http://schemas.openxmlformats.org/drawingml/2006/main" w="9525">
            <a:solidFill>
              <a:srgbClr val="B45309"/>
            </a:solidFill>
            <a:prstDash val="solid"/>
          </a:ln>
        </p:spPr>
      </p:sp>
      <p:sp>
        <p:nvSpPr>
          <p:cNvPr id="7" name="Text 5">
            <a:extLst xmlns:a="http://schemas.openxmlformats.org/drawingml/2006/main">
              <a:ext uri="{FF2B5EF4-FFF2-40B4-BE49-F238E27FC236}">
                <a16:creationId xmlns:a16="http://schemas.microsoft.com/office/drawing/2014/main" id="{CDA971D4-B7FD-4DA7-9BC8-BD745EAAC7A9}"/>
              </a:ext>
            </a:extLst>
          </p:cNvPr>
          <p:cNvSpPr>
            <a:spLocks xmlns:a="http://schemas.openxmlformats.org/drawingml/2006/main" noGrp="1"/>
          </p:cNvSpPr>
          <p:nvPr/>
        </p:nvSpPr>
        <p:spPr>
          <a:xfrm xmlns:a="http://schemas.openxmlformats.org/drawingml/2006/main">
            <a:off x="502920" y="2194560"/>
            <a:ext cx="456971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B45309"/>
                </a:solidFill>
                <a:latin typeface="Calibri"/>
                <a:ea typeface="Calibri"/>
                <a:cs typeface="Calibri"/>
              </a:rPr>
              <a:t>Abstract</a:t>
            </a:r>
            <a:endParaRPr sz="1800"/>
          </a:p>
        </p:txBody>
      </p:sp>
      <p:sp>
        <p:nvSpPr>
          <p:cNvPr id="8" name="Text 6">
            <a:extLst xmlns:a="http://schemas.openxmlformats.org/drawingml/2006/main">
              <a:ext uri="{FF2B5EF4-FFF2-40B4-BE49-F238E27FC236}">
                <a16:creationId xmlns:a16="http://schemas.microsoft.com/office/drawing/2014/main" id="{D0BC9FA1-9C4A-47CA-87C5-7DFD8BD2ED06}"/>
              </a:ext>
            </a:extLst>
          </p:cNvPr>
          <p:cNvSpPr>
            <a:spLocks xmlns:a="http://schemas.openxmlformats.org/drawingml/2006/main" noGrp="1"/>
          </p:cNvSpPr>
          <p:nvPr/>
        </p:nvSpPr>
        <p:spPr>
          <a:xfrm xmlns:a="http://schemas.openxmlformats.org/drawingml/2006/main">
            <a:off x="502920" y="2560320"/>
            <a:ext cx="456971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A web platform for attendees to discover events, book seats and access QR tickets.</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React, Express and MySQL support digital registration and organizer management.</a:t>
            </a:r>
            <a:endParaRPr sz="1550"/>
          </a:p>
        </p:txBody>
      </p:sp>
      <p:sp>
        <p:nvSpPr>
          <p:cNvPr id="9" name="Shape 7">
            <a:extLst xmlns:a="http://schemas.openxmlformats.org/drawingml/2006/main">
              <a:ext uri="{FF2B5EF4-FFF2-40B4-BE49-F238E27FC236}">
                <a16:creationId xmlns:a16="http://schemas.microsoft.com/office/drawing/2014/main" id="{6EB06797-B024-49BC-9319-4D14CF64F1CC}"/>
              </a:ext>
            </a:extLst>
          </p:cNvPr>
          <p:cNvSpPr>
            <a:spLocks xmlns:a="http://schemas.openxmlformats.org/drawingml/2006/main" noGrp="1"/>
          </p:cNvSpPr>
          <p:nvPr/>
        </p:nvSpPr>
        <p:spPr>
          <a:xfrm xmlns:a="http://schemas.openxmlformats.org/drawingml/2006/main">
            <a:off x="365760" y="3886200"/>
            <a:ext cx="4844034" cy="2286000"/>
          </a:xfrm>
          <a:prstGeom xmlns:a="http://schemas.openxmlformats.org/drawingml/2006/main" prst="roundRect">
            <a:avLst>
              <a:gd name="adj" fmla="val 3000"/>
            </a:avLst>
          </a:prstGeom>
          <a:solidFill xmlns:a="http://schemas.openxmlformats.org/drawingml/2006/main">
            <a:srgbClr val="FCE7F3"/>
          </a:solidFill>
          <a:ln xmlns:a="http://schemas.openxmlformats.org/drawingml/2006/main" w="9525">
            <a:solidFill>
              <a:srgbClr val="BE185D"/>
            </a:solidFill>
            <a:prstDash val="solid"/>
          </a:ln>
        </p:spPr>
      </p:sp>
      <p:sp>
        <p:nvSpPr>
          <p:cNvPr id="10" name="Text 8">
            <a:extLst xmlns:a="http://schemas.openxmlformats.org/drawingml/2006/main">
              <a:ext uri="{FF2B5EF4-FFF2-40B4-BE49-F238E27FC236}">
                <a16:creationId xmlns:a16="http://schemas.microsoft.com/office/drawing/2014/main" id="{3837CCB8-77FC-4FE1-977A-2F027E92A09B}"/>
              </a:ext>
            </a:extLst>
          </p:cNvPr>
          <p:cNvSpPr>
            <a:spLocks xmlns:a="http://schemas.openxmlformats.org/drawingml/2006/main" noGrp="1"/>
          </p:cNvSpPr>
          <p:nvPr/>
        </p:nvSpPr>
        <p:spPr>
          <a:xfrm xmlns:a="http://schemas.openxmlformats.org/drawingml/2006/main">
            <a:off x="502920" y="3977640"/>
            <a:ext cx="456971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BE185D"/>
                </a:solidFill>
                <a:latin typeface="Calibri"/>
                <a:ea typeface="Calibri"/>
                <a:cs typeface="Calibri"/>
              </a:rPr>
              <a:t>Problem Statement &amp; Objectives</a:t>
            </a:r>
            <a:endParaRPr sz="1800"/>
          </a:p>
        </p:txBody>
      </p:sp>
      <p:sp>
        <p:nvSpPr>
          <p:cNvPr id="11" name="Text 9">
            <a:extLst xmlns:a="http://schemas.openxmlformats.org/drawingml/2006/main">
              <a:ext uri="{FF2B5EF4-FFF2-40B4-BE49-F238E27FC236}">
                <a16:creationId xmlns:a16="http://schemas.microsoft.com/office/drawing/2014/main" id="{CE39BE7F-A81A-4ECC-B9A9-AA71322860C5}"/>
              </a:ext>
            </a:extLst>
          </p:cNvPr>
          <p:cNvSpPr>
            <a:spLocks xmlns:a="http://schemas.openxmlformats.org/drawingml/2006/main" noGrp="1"/>
          </p:cNvSpPr>
          <p:nvPr/>
        </p:nvSpPr>
        <p:spPr>
          <a:xfrm xmlns:a="http://schemas.openxmlformats.org/drawingml/2006/main">
            <a:off x="502920" y="4343400"/>
            <a:ext cx="456971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Problem: Manual registration, paper tickets and long entry queues.</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Objective: Enable online event booking.</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Objective: Verify entry with QR tickets.</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Objective: Centralize schedules and updates.</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Scope: Attendees and event administrators.</a:t>
            </a:r>
            <a:endParaRPr sz="1550"/>
          </a:p>
        </p:txBody>
      </p:sp>
      <p:sp>
        <p:nvSpPr>
          <p:cNvPr id="12" name="Shape 10">
            <a:extLst xmlns:a="http://schemas.openxmlformats.org/drawingml/2006/main">
              <a:ext uri="{FF2B5EF4-FFF2-40B4-BE49-F238E27FC236}">
                <a16:creationId xmlns:a16="http://schemas.microsoft.com/office/drawing/2014/main" id="{429260BB-08D3-4DEA-A02A-6D29A1BC093A}"/>
              </a:ext>
            </a:extLst>
          </p:cNvPr>
          <p:cNvSpPr>
            <a:spLocks xmlns:a="http://schemas.openxmlformats.org/drawingml/2006/main" noGrp="1"/>
          </p:cNvSpPr>
          <p:nvPr/>
        </p:nvSpPr>
        <p:spPr>
          <a:xfrm xmlns:a="http://schemas.openxmlformats.org/drawingml/2006/main">
            <a:off x="365760" y="6309360"/>
            <a:ext cx="4844034" cy="3017520"/>
          </a:xfrm>
          <a:prstGeom xmlns:a="http://schemas.openxmlformats.org/drawingml/2006/main" prst="roundRect">
            <a:avLst>
              <a:gd name="adj" fmla="val 2273"/>
            </a:avLst>
          </a:prstGeom>
          <a:solidFill xmlns:a="http://schemas.openxmlformats.org/drawingml/2006/main">
            <a:srgbClr val="DBEAFE"/>
          </a:solidFill>
          <a:ln xmlns:a="http://schemas.openxmlformats.org/drawingml/2006/main" w="9525">
            <a:solidFill>
              <a:srgbClr val="1D4ED8"/>
            </a:solidFill>
            <a:prstDash val="solid"/>
          </a:ln>
        </p:spPr>
      </p:sp>
      <p:sp>
        <p:nvSpPr>
          <p:cNvPr id="13" name="Text 11">
            <a:extLst xmlns:a="http://schemas.openxmlformats.org/drawingml/2006/main">
              <a:ext uri="{FF2B5EF4-FFF2-40B4-BE49-F238E27FC236}">
                <a16:creationId xmlns:a16="http://schemas.microsoft.com/office/drawing/2014/main" id="{0D87EE6C-182E-429C-8E32-FA1384071013}"/>
              </a:ext>
            </a:extLst>
          </p:cNvPr>
          <p:cNvSpPr>
            <a:spLocks xmlns:a="http://schemas.openxmlformats.org/drawingml/2006/main" noGrp="1"/>
          </p:cNvSpPr>
          <p:nvPr/>
        </p:nvSpPr>
        <p:spPr>
          <a:xfrm xmlns:a="http://schemas.openxmlformats.org/drawingml/2006/main">
            <a:off x="502920" y="6400800"/>
            <a:ext cx="456971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D4ED8"/>
                </a:solidFill>
                <a:latin typeface="Calibri"/>
                <a:ea typeface="Calibri"/>
                <a:cs typeface="Calibri"/>
              </a:rPr>
              <a:t>Existing vs Proposed System</a:t>
            </a:r>
            <a:endParaRPr sz="1800"/>
          </a:p>
        </p:txBody>
      </p:sp>
      <p:graphicFrame>
        <p:nvGraphicFramePr>
          <p:cNvPr id="88" name="Table 0"/>
          <p:cNvGraphicFramePr/>
          <p:nvPr/>
        </p:nvGraphicFramePr>
        <p:xfrm>
          <a:off xmlns:a="http://schemas.openxmlformats.org/drawingml/2006/main" x="502920" y="6766560"/>
          <a:ext xmlns:a="http://schemas.openxmlformats.org/drawingml/2006/main" cx="4569714" cy="914400"/>
        </p:xfrm>
        <a:graphic xmlns:a="http://schemas.openxmlformats.org/drawingml/2006/main">
          <a:graphicData uri="http://schemas.openxmlformats.org/drawingml/2006/table">
            <a:tbl>
              <a:tblPr/>
              <a:tblGrid>
                <a:gridCol w="1097280"/>
                <a:gridCol w="1760220"/>
                <a:gridCol w="1760220"/>
              </a:tblGrid>
              <a:tr h="388620">
                <a:tc>
                  <a:txBody>
                    <a:bodyPr/>
                    <a:lstStyle/>
                    <a:p>
                      <a:pPr marL="0" indent="0">
                        <a:buNone/>
                      </a:pPr>
                      <a:r>
                        <a:rPr sz="1350" b="1">
                          <a:solidFill>
                            <a:srgbClr val="FFFFFF"/>
                          </a:solidFill>
                          <a:latin typeface="Calibri"/>
                          <a:ea typeface="Calibri"/>
                          <a:cs typeface="Calibri"/>
                        </a:rPr>
                        <a:t>Feature</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1D4ED8"/>
                    </a:solidFill>
                  </a:tcPr>
                </a:tc>
                <a:tc>
                  <a:txBody>
                    <a:bodyPr/>
                    <a:lstStyle/>
                    <a:p>
                      <a:pPr marL="0" indent="0">
                        <a:buNone/>
                      </a:pPr>
                      <a:r>
                        <a:rPr sz="1350" b="1">
                          <a:solidFill>
                            <a:srgbClr val="FFFFFF"/>
                          </a:solidFill>
                          <a:latin typeface="Calibri"/>
                          <a:ea typeface="Calibri"/>
                          <a:cs typeface="Calibri"/>
                        </a:rPr>
                        <a:t>Existing System</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1D4ED8"/>
                    </a:solidFill>
                  </a:tcPr>
                </a:tc>
                <a:tc>
                  <a:txBody>
                    <a:bodyPr/>
                    <a:lstStyle/>
                    <a:p>
                      <a:pPr marL="0" indent="0">
                        <a:buNone/>
                      </a:pPr>
                      <a:r>
                        <a:rPr sz="1350" b="1">
                          <a:solidFill>
                            <a:srgbClr val="FFFFFF"/>
                          </a:solidFill>
                          <a:latin typeface="Calibri"/>
                          <a:ea typeface="Calibri"/>
                          <a:cs typeface="Calibri"/>
                        </a:rPr>
                        <a:t>Proposed System</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1D4ED8"/>
                    </a:solidFill>
                  </a:tcPr>
                </a:tc>
              </a:tr>
              <a:tr h="388620">
                <a:tc>
                  <a:txBody>
                    <a:bodyPr/>
                    <a:lstStyle/>
                    <a:p>
                      <a:pPr marL="0" indent="0">
                        <a:buNone/>
                      </a:pPr>
                      <a:r>
                        <a:rPr sz="1350" b="1">
                          <a:solidFill>
                            <a:srgbClr val="1E293B"/>
                          </a:solidFill>
                          <a:latin typeface="Calibri"/>
                          <a:ea typeface="Calibri"/>
                          <a:cs typeface="Calibri"/>
                        </a:rPr>
                        <a:t>Sign-up</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c>
                  <a:txBody>
                    <a:bodyPr/>
                    <a:lstStyle/>
                    <a:p>
                      <a:pPr marL="0" indent="0">
                        <a:buNone/>
                      </a:pPr>
                      <a:r>
                        <a:rPr sz="1350">
                          <a:solidFill>
                            <a:srgbClr val="1E293B"/>
                          </a:solidFill>
                          <a:latin typeface="Calibri"/>
                          <a:ea typeface="Calibri"/>
                          <a:cs typeface="Calibri"/>
                        </a:rPr>
                        <a:t>Manual forms</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c>
                  <a:txBody>
                    <a:bodyPr/>
                    <a:lstStyle/>
                    <a:p>
                      <a:pPr marL="0" indent="0">
                        <a:buNone/>
                      </a:pPr>
                      <a:r>
                        <a:rPr sz="1350">
                          <a:solidFill>
                            <a:srgbClr val="1E293B"/>
                          </a:solidFill>
                          <a:latin typeface="Calibri"/>
                          <a:ea typeface="Calibri"/>
                          <a:cs typeface="Calibri"/>
                        </a:rPr>
                        <a:t>Online account</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r>
              <a:tr h="388620">
                <a:tc>
                  <a:txBody>
                    <a:bodyPr/>
                    <a:lstStyle/>
                    <a:p>
                      <a:pPr marL="0" indent="0">
                        <a:buNone/>
                      </a:pPr>
                      <a:r>
                        <a:rPr sz="1350" b="1">
                          <a:solidFill>
                            <a:srgbClr val="1E293B"/>
                          </a:solidFill>
                          <a:latin typeface="Calibri"/>
                          <a:ea typeface="Calibri"/>
                          <a:cs typeface="Calibri"/>
                        </a:rPr>
                        <a:t>Ticketing</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c>
                  <a:txBody>
                    <a:bodyPr/>
                    <a:lstStyle/>
                    <a:p>
                      <a:pPr marL="0" indent="0">
                        <a:buNone/>
                      </a:pPr>
                      <a:r>
                        <a:rPr sz="1350">
                          <a:solidFill>
                            <a:srgbClr val="1E293B"/>
                          </a:solidFill>
                          <a:latin typeface="Calibri"/>
                          <a:ea typeface="Calibri"/>
                          <a:cs typeface="Calibri"/>
                        </a:rPr>
                        <a:t>Paper passes</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c>
                  <a:txBody>
                    <a:bodyPr/>
                    <a:lstStyle/>
                    <a:p>
                      <a:pPr marL="0" indent="0">
                        <a:buNone/>
                      </a:pPr>
                      <a:r>
                        <a:rPr sz="1350">
                          <a:solidFill>
                            <a:srgbClr val="1E293B"/>
                          </a:solidFill>
                          <a:latin typeface="Calibri"/>
                          <a:ea typeface="Calibri"/>
                          <a:cs typeface="Calibri"/>
                        </a:rPr>
                        <a:t>Digital QR ticket</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r>
              <a:tr h="388620">
                <a:tc>
                  <a:txBody>
                    <a:bodyPr/>
                    <a:lstStyle/>
                    <a:p>
                      <a:pPr marL="0" indent="0">
                        <a:buNone/>
                      </a:pPr>
                      <a:r>
                        <a:rPr sz="1350" b="1">
                          <a:solidFill>
                            <a:srgbClr val="1E293B"/>
                          </a:solidFill>
                          <a:latin typeface="Calibri"/>
                          <a:ea typeface="Calibri"/>
                          <a:cs typeface="Calibri"/>
                        </a:rPr>
                        <a:t>Entry</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c>
                  <a:txBody>
                    <a:bodyPr/>
                    <a:lstStyle/>
                    <a:p>
                      <a:pPr marL="0" indent="0">
                        <a:buNone/>
                      </a:pPr>
                      <a:r>
                        <a:rPr sz="1350">
                          <a:solidFill>
                            <a:srgbClr val="1E293B"/>
                          </a:solidFill>
                          <a:latin typeface="Calibri"/>
                          <a:ea typeface="Calibri"/>
                          <a:cs typeface="Calibri"/>
                        </a:rPr>
                        <a:t>Manual checking</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c>
                  <a:txBody>
                    <a:bodyPr/>
                    <a:lstStyle/>
                    <a:p>
                      <a:pPr marL="0" indent="0">
                        <a:buNone/>
                      </a:pPr>
                      <a:r>
                        <a:rPr sz="1350">
                          <a:solidFill>
                            <a:srgbClr val="1E293B"/>
                          </a:solidFill>
                          <a:latin typeface="Calibri"/>
                          <a:ea typeface="Calibri"/>
                          <a:cs typeface="Calibri"/>
                        </a:rPr>
                        <a:t>QR validation</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r>
              <a:tr h="388620">
                <a:tc>
                  <a:txBody>
                    <a:bodyPr/>
                    <a:lstStyle/>
                    <a:p>
                      <a:pPr marL="0" indent="0">
                        <a:buNone/>
                      </a:pPr>
                      <a:r>
                        <a:rPr sz="1350" b="1">
                          <a:solidFill>
                            <a:srgbClr val="1E293B"/>
                          </a:solidFill>
                          <a:latin typeface="Calibri"/>
                          <a:ea typeface="Calibri"/>
                          <a:cs typeface="Calibri"/>
                        </a:rPr>
                        <a:t>Updates</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c>
                  <a:txBody>
                    <a:bodyPr/>
                    <a:lstStyle/>
                    <a:p>
                      <a:pPr marL="0" indent="0">
                        <a:buNone/>
                      </a:pPr>
                      <a:r>
                        <a:rPr sz="1350">
                          <a:solidFill>
                            <a:srgbClr val="1E293B"/>
                          </a:solidFill>
                          <a:latin typeface="Calibri"/>
                          <a:ea typeface="Calibri"/>
                          <a:cs typeface="Calibri"/>
                        </a:rPr>
                        <a:t>Scattered details</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c>
                  <a:txBody>
                    <a:bodyPr/>
                    <a:lstStyle/>
                    <a:p>
                      <a:pPr marL="0" indent="0">
                        <a:buNone/>
                      </a:pPr>
                      <a:r>
                        <a:rPr sz="1350">
                          <a:solidFill>
                            <a:srgbClr val="1E293B"/>
                          </a:solidFill>
                          <a:latin typeface="Calibri"/>
                          <a:ea typeface="Calibri"/>
                          <a:cs typeface="Calibri"/>
                        </a:rPr>
                        <a:t>Schedules and alerts</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r>
              <a:tr h="388620">
                <a:tc>
                  <a:txBody>
                    <a:bodyPr/>
                    <a:lstStyle/>
                    <a:p>
                      <a:pPr marL="0" indent="0">
                        <a:buNone/>
                      </a:pPr>
                      <a:r>
                        <a:rPr sz="1350" b="1">
                          <a:solidFill>
                            <a:srgbClr val="1E293B"/>
                          </a:solidFill>
                          <a:latin typeface="Calibri"/>
                          <a:ea typeface="Calibri"/>
                          <a:cs typeface="Calibri"/>
                        </a:rPr>
                        <a:t>Seat control</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c>
                  <a:txBody>
                    <a:bodyPr/>
                    <a:lstStyle/>
                    <a:p>
                      <a:pPr marL="0" indent="0">
                        <a:buNone/>
                      </a:pPr>
                      <a:r>
                        <a:rPr sz="1350">
                          <a:solidFill>
                            <a:srgbClr val="1E293B"/>
                          </a:solidFill>
                          <a:latin typeface="Calibri"/>
                          <a:ea typeface="Calibri"/>
                          <a:cs typeface="Calibri"/>
                        </a:rPr>
                        <a:t>Manual counting</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c>
                  <a:txBody>
                    <a:bodyPr/>
                    <a:lstStyle/>
                    <a:p>
                      <a:pPr marL="0" indent="0">
                        <a:buNone/>
                      </a:pPr>
                      <a:r>
                        <a:rPr sz="1350">
                          <a:solidFill>
                            <a:srgbClr val="1E293B"/>
                          </a:solidFill>
                          <a:latin typeface="Calibri"/>
                          <a:ea typeface="Calibri"/>
                          <a:cs typeface="Calibri"/>
                        </a:rPr>
                        <a:t>Database row locks</a:t>
                      </a:r>
                      <a:endParaRPr sz="1350">
                        <a:latin typeface="Calibri"/>
                        <a:ea typeface="Calibri"/>
                        <a:cs typeface="Calibri"/>
                      </a:endParaRPr>
                    </a:p>
                  </a:txBody>
                  <a:tcPr marL="91440" marR="91440" marT="45720" marB="45720" anchor="ctr">
                    <a:lnL w="9525" cmpd="sng">
                      <a:solidFill>
                        <a:srgbClr val="93C5FD"/>
                      </a:solidFill>
                      <a:prstDash val="solid"/>
                    </a:lnL>
                    <a:lnR w="9525" cmpd="sng">
                      <a:solidFill>
                        <a:srgbClr val="93C5FD"/>
                      </a:solidFill>
                      <a:prstDash val="solid"/>
                    </a:lnR>
                    <a:lnT w="9525" cmpd="sng">
                      <a:solidFill>
                        <a:srgbClr val="93C5FD"/>
                      </a:solidFill>
                      <a:prstDash val="solid"/>
                    </a:lnT>
                    <a:lnB w="9525" cmpd="sng">
                      <a:solidFill>
                        <a:srgbClr val="93C5FD"/>
                      </a:solidFill>
                      <a:prstDash val="solid"/>
                    </a:lnB>
                    <a:solidFill>
                      <a:srgbClr val="FFFFFF"/>
                    </a:solidFill>
                  </a:tcPr>
                </a:tc>
              </a:tr>
            </a:tbl>
          </a:graphicData>
        </a:graphic>
      </p:graphicFrame>
      <p:sp>
        <p:nvSpPr>
          <p:cNvPr id="15" name="Shape 12">
            <a:extLst xmlns:a="http://schemas.openxmlformats.org/drawingml/2006/main">
              <a:ext uri="{FF2B5EF4-FFF2-40B4-BE49-F238E27FC236}">
                <a16:creationId xmlns:a16="http://schemas.microsoft.com/office/drawing/2014/main" id="{CE80D13A-9F8F-4E31-971D-1CB605DA445A}"/>
              </a:ext>
            </a:extLst>
          </p:cNvPr>
          <p:cNvSpPr>
            <a:spLocks xmlns:a="http://schemas.openxmlformats.org/drawingml/2006/main" noGrp="1"/>
          </p:cNvSpPr>
          <p:nvPr/>
        </p:nvSpPr>
        <p:spPr>
          <a:xfrm xmlns:a="http://schemas.openxmlformats.org/drawingml/2006/main">
            <a:off x="365760" y="9464040"/>
            <a:ext cx="4844034" cy="2971800"/>
          </a:xfrm>
          <a:prstGeom xmlns:a="http://schemas.openxmlformats.org/drawingml/2006/main" prst="roundRect">
            <a:avLst>
              <a:gd name="adj" fmla="val 2308"/>
            </a:avLst>
          </a:prstGeom>
          <a:solidFill xmlns:a="http://schemas.openxmlformats.org/drawingml/2006/main">
            <a:srgbClr val="DCFCE7"/>
          </a:solidFill>
          <a:ln xmlns:a="http://schemas.openxmlformats.org/drawingml/2006/main" w="9525">
            <a:solidFill>
              <a:srgbClr val="15803D"/>
            </a:solidFill>
            <a:prstDash val="solid"/>
          </a:ln>
        </p:spPr>
      </p:sp>
      <p:sp>
        <p:nvSpPr>
          <p:cNvPr id="16" name="Text 13">
            <a:extLst xmlns:a="http://schemas.openxmlformats.org/drawingml/2006/main">
              <a:ext uri="{FF2B5EF4-FFF2-40B4-BE49-F238E27FC236}">
                <a16:creationId xmlns:a16="http://schemas.microsoft.com/office/drawing/2014/main" id="{620D7C01-A037-4446-B837-5EEC665DA49D}"/>
              </a:ext>
            </a:extLst>
          </p:cNvPr>
          <p:cNvSpPr>
            <a:spLocks xmlns:a="http://schemas.openxmlformats.org/drawingml/2006/main" noGrp="1"/>
          </p:cNvSpPr>
          <p:nvPr/>
        </p:nvSpPr>
        <p:spPr>
          <a:xfrm xmlns:a="http://schemas.openxmlformats.org/drawingml/2006/main">
            <a:off x="502920" y="9555480"/>
            <a:ext cx="456971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5803D"/>
                </a:solidFill>
                <a:latin typeface="Calibri"/>
                <a:ea typeface="Calibri"/>
                <a:cs typeface="Calibri"/>
              </a:rPr>
              <a:t>Feasibility Study</a:t>
            </a:r>
            <a:endParaRPr sz="1800"/>
          </a:p>
        </p:txBody>
      </p:sp>
      <p:sp>
        <p:nvSpPr>
          <p:cNvPr id="17" name="Text 14">
            <a:extLst xmlns:a="http://schemas.openxmlformats.org/drawingml/2006/main">
              <a:ext uri="{FF2B5EF4-FFF2-40B4-BE49-F238E27FC236}">
                <a16:creationId xmlns:a16="http://schemas.microsoft.com/office/drawing/2014/main" id="{8F1CD4D5-F377-41CC-AE05-81EDC7BB3FC9}"/>
              </a:ext>
            </a:extLst>
          </p:cNvPr>
          <p:cNvSpPr>
            <a:spLocks xmlns:a="http://schemas.openxmlformats.org/drawingml/2006/main" noGrp="1"/>
          </p:cNvSpPr>
          <p:nvPr/>
        </p:nvSpPr>
        <p:spPr>
          <a:xfrm xmlns:a="http://schemas.openxmlformats.org/drawingml/2006/main">
            <a:off x="502920" y="9921240"/>
            <a:ext cx="4569714" cy="24231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Technical: React, Express and MySQL support a browser-based application.</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Economic: Open-source development tools support a low-cost prototype.</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Operational: Self-service reduces repeated organizer assistance.</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Schedule: Develop and review the core modules in stages within the semester.</a:t>
            </a:r>
            <a:endParaRPr sz="1550"/>
          </a:p>
        </p:txBody>
      </p:sp>
      <p:sp>
        <p:nvSpPr>
          <p:cNvPr id="18" name="Shape 15">
            <a:extLst xmlns:a="http://schemas.openxmlformats.org/drawingml/2006/main">
              <a:ext uri="{FF2B5EF4-FFF2-40B4-BE49-F238E27FC236}">
                <a16:creationId xmlns:a16="http://schemas.microsoft.com/office/drawing/2014/main" id="{C7A3E390-CEAE-4D42-B690-EF9DE140BCE6}"/>
              </a:ext>
            </a:extLst>
          </p:cNvPr>
          <p:cNvSpPr>
            <a:spLocks xmlns:a="http://schemas.openxmlformats.org/drawingml/2006/main" noGrp="1"/>
          </p:cNvSpPr>
          <p:nvPr/>
        </p:nvSpPr>
        <p:spPr>
          <a:xfrm xmlns:a="http://schemas.openxmlformats.org/drawingml/2006/main">
            <a:off x="5484114" y="2103120"/>
            <a:ext cx="4844034" cy="2286000"/>
          </a:xfrm>
          <a:prstGeom xmlns:a="http://schemas.openxmlformats.org/drawingml/2006/main" prst="roundRect">
            <a:avLst>
              <a:gd name="adj" fmla="val 3000"/>
            </a:avLst>
          </a:prstGeom>
          <a:solidFill xmlns:a="http://schemas.openxmlformats.org/drawingml/2006/main">
            <a:srgbClr val="E0F2FE"/>
          </a:solidFill>
          <a:ln xmlns:a="http://schemas.openxmlformats.org/drawingml/2006/main" w="9525">
            <a:solidFill>
              <a:srgbClr val="0369A1"/>
            </a:solidFill>
            <a:prstDash val="solid"/>
          </a:ln>
        </p:spPr>
      </p:sp>
      <p:sp>
        <p:nvSpPr>
          <p:cNvPr id="19" name="Text 16">
            <a:extLst xmlns:a="http://schemas.openxmlformats.org/drawingml/2006/main">
              <a:ext uri="{FF2B5EF4-FFF2-40B4-BE49-F238E27FC236}">
                <a16:creationId xmlns:a16="http://schemas.microsoft.com/office/drawing/2014/main" id="{B98A0CA7-E089-4619-9303-7BCF0B8A5D65}"/>
              </a:ext>
            </a:extLst>
          </p:cNvPr>
          <p:cNvSpPr>
            <a:spLocks xmlns:a="http://schemas.openxmlformats.org/drawingml/2006/main" noGrp="1"/>
          </p:cNvSpPr>
          <p:nvPr/>
        </p:nvSpPr>
        <p:spPr>
          <a:xfrm xmlns:a="http://schemas.openxmlformats.org/drawingml/2006/main">
            <a:off x="5621274" y="2194560"/>
            <a:ext cx="456971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369A1"/>
                </a:solidFill>
                <a:latin typeface="Calibri"/>
                <a:ea typeface="Calibri"/>
                <a:cs typeface="Calibri"/>
              </a:rPr>
              <a:t>Tools &amp; Technologies</a:t>
            </a:r>
            <a:endParaRPr sz="1800"/>
          </a:p>
        </p:txBody>
      </p:sp>
      <p:sp>
        <p:nvSpPr>
          <p:cNvPr id="20" name="Text 17">
            <a:extLst xmlns:a="http://schemas.openxmlformats.org/drawingml/2006/main">
              <a:ext uri="{FF2B5EF4-FFF2-40B4-BE49-F238E27FC236}">
                <a16:creationId xmlns:a16="http://schemas.microsoft.com/office/drawing/2014/main" id="{A35C74E4-AC29-43AF-AED6-0BDC3727E0D2}"/>
              </a:ext>
            </a:extLst>
          </p:cNvPr>
          <p:cNvSpPr>
            <a:spLocks xmlns:a="http://schemas.openxmlformats.org/drawingml/2006/main" noGrp="1"/>
          </p:cNvSpPr>
          <p:nvPr/>
        </p:nvSpPr>
        <p:spPr>
          <a:xfrm xmlns:a="http://schemas.openxmlformats.org/drawingml/2006/main">
            <a:off x="5621274" y="2560320"/>
            <a:ext cx="456971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Front-End: React 18 and Vite</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Back-End: Node.js, Express and REST APIs</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Database: MySQL 8.0 / MariaDB</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Security: JWT and bcrypt password hashing</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Payments: Razorpay test-mode checkout</a:t>
            </a:r>
            <a:endParaRPr sz="1550"/>
          </a:p>
          <a:p xmlns:a="http://schemas.openxmlformats.org/drawingml/2006/main">
            <a:pPr marL="342900" indent="-342900">
              <a:spcAft>
                <a:spcPts val="400"/>
              </a:spcAft>
              <a:buSzPct val="100000"/>
              <a:buChar char="•"/>
              <a:defRPr sz="1550" b="0">
                <a:solidFill>
                  <a:srgbClr val="1E293B"/>
                </a:solidFill>
                <a:latin typeface="Calibri"/>
                <a:ea typeface="Calibri"/>
                <a:cs typeface="Calibri"/>
              </a:defRPr>
            </a:pPr>
            <a:r>
              <a:rPr sz="1550" b="0">
                <a:solidFill>
                  <a:srgbClr val="1E293B"/>
                </a:solidFill>
                <a:latin typeface="Calibri"/>
                <a:ea typeface="Calibri"/>
                <a:cs typeface="Calibri"/>
              </a:rPr>
              <a:t>Ticketing: QR code generation and scanning</a:t>
            </a:r>
            <a:endParaRPr sz="1550"/>
          </a:p>
        </p:txBody>
      </p:sp>
      <p:sp>
        <p:nvSpPr>
          <p:cNvPr id="21" name="Shape 18">
            <a:extLst xmlns:a="http://schemas.openxmlformats.org/drawingml/2006/main">
              <a:ext uri="{FF2B5EF4-FFF2-40B4-BE49-F238E27FC236}">
                <a16:creationId xmlns:a16="http://schemas.microsoft.com/office/drawing/2014/main" id="{E52909C8-9193-4329-BA26-73B9EFC32D21}"/>
              </a:ext>
            </a:extLst>
          </p:cNvPr>
          <p:cNvSpPr>
            <a:spLocks xmlns:a="http://schemas.openxmlformats.org/drawingml/2006/main" noGrp="1"/>
          </p:cNvSpPr>
          <p:nvPr/>
        </p:nvSpPr>
        <p:spPr>
          <a:xfrm xmlns:a="http://schemas.openxmlformats.org/drawingml/2006/main">
            <a:off x="5484114" y="4526280"/>
            <a:ext cx="4844034" cy="2743200"/>
          </a:xfrm>
          <a:prstGeom xmlns:a="http://schemas.openxmlformats.org/drawingml/2006/main" prst="roundRect">
            <a:avLst>
              <a:gd name="adj" fmla="val 2500"/>
            </a:avLst>
          </a:prstGeom>
          <a:solidFill xmlns:a="http://schemas.openxmlformats.org/drawingml/2006/main">
            <a:srgbClr val="EDE9FE"/>
          </a:solidFill>
          <a:ln xmlns:a="http://schemas.openxmlformats.org/drawingml/2006/main" w="9525">
            <a:solidFill>
              <a:srgbClr val="6D28D9"/>
            </a:solidFill>
            <a:prstDash val="solid"/>
          </a:ln>
        </p:spPr>
      </p:sp>
      <p:sp>
        <p:nvSpPr>
          <p:cNvPr id="22" name="Text 19">
            <a:extLst xmlns:a="http://schemas.openxmlformats.org/drawingml/2006/main">
              <a:ext uri="{FF2B5EF4-FFF2-40B4-BE49-F238E27FC236}">
                <a16:creationId xmlns:a16="http://schemas.microsoft.com/office/drawing/2014/main" id="{0D7A5D16-1C6F-4CF3-9E57-5ABC95A29053}"/>
              </a:ext>
            </a:extLst>
          </p:cNvPr>
          <p:cNvSpPr>
            <a:spLocks xmlns:a="http://schemas.openxmlformats.org/drawingml/2006/main" noGrp="1"/>
          </p:cNvSpPr>
          <p:nvPr/>
        </p:nvSpPr>
        <p:spPr>
          <a:xfrm xmlns:a="http://schemas.openxmlformats.org/drawingml/2006/main">
            <a:off x="5621274" y="4617720"/>
            <a:ext cx="456971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D28D9"/>
                </a:solidFill>
                <a:latin typeface="Calibri"/>
                <a:ea typeface="Calibri"/>
                <a:cs typeface="Calibri"/>
              </a:rPr>
              <a:t>System Architecture</a:t>
            </a:r>
            <a:endParaRPr sz="1800"/>
          </a:p>
        </p:txBody>
      </p:sp>
      <p:sp>
        <p:nvSpPr>
          <p:cNvPr id="23" name="Shape 20">
            <a:extLst xmlns:a="http://schemas.openxmlformats.org/drawingml/2006/main">
              <a:ext uri="{FF2B5EF4-FFF2-40B4-BE49-F238E27FC236}">
                <a16:creationId xmlns:a16="http://schemas.microsoft.com/office/drawing/2014/main" id="{2CEDC8F2-8383-472E-BF17-CA1D194B1827}"/>
              </a:ext>
            </a:extLst>
          </p:cNvPr>
          <p:cNvSpPr>
            <a:spLocks xmlns:a="http://schemas.openxmlformats.org/drawingml/2006/main" noGrp="1"/>
          </p:cNvSpPr>
          <p:nvPr/>
        </p:nvSpPr>
        <p:spPr>
          <a:xfrm xmlns:a="http://schemas.openxmlformats.org/drawingml/2006/main">
            <a:off x="5621274" y="4983480"/>
            <a:ext cx="4569714" cy="2148840"/>
          </a:xfrm>
          <a:prstGeom xmlns:a="http://schemas.openxmlformats.org/drawingml/2006/main" prst="rect">
            <a:avLst/>
          </a:prstGeom>
          <a:solidFill xmlns:a="http://schemas.openxmlformats.org/drawingml/2006/main">
            <a:srgbClr val="FFFFFF"/>
          </a:solidFill>
          <a:ln xmlns:a="http://schemas.openxmlformats.org/drawingml/2006/main" w="9525">
            <a:solidFill>
              <a:srgbClr val="6D28D9"/>
            </a:solidFill>
            <a:prstDash val="dash"/>
          </a:ln>
        </p:spPr>
      </p:sp>
      <p:sp>
        <p:nvSpPr>
          <p:cNvPr id="24" name="Text 21">
            <a:extLst xmlns:a="http://schemas.openxmlformats.org/drawingml/2006/main">
              <a:ext uri="{FF2B5EF4-FFF2-40B4-BE49-F238E27FC236}">
                <a16:creationId xmlns:a16="http://schemas.microsoft.com/office/drawing/2014/main" id="{4ED9A896-7C7B-42D3-B137-CB05E2593085}"/>
              </a:ext>
            </a:extLst>
          </p:cNvPr>
          <p:cNvSpPr>
            <a:spLocks xmlns:a="http://schemas.openxmlformats.org/drawingml/2006/main" noGrp="1"/>
          </p:cNvSpPr>
          <p:nvPr/>
        </p:nvSpPr>
        <p:spPr>
          <a:xfrm xmlns:a="http://schemas.openxmlformats.org/drawingml/2006/main">
            <a:off x="5621274" y="4983480"/>
            <a:ext cx="4569714" cy="21488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ctr">
              <a:buNone/>
            </a:pPr>
            <a:r>
              <a:rPr sz="1250">
                <a:solidFill>
                  <a:srgbClr val="6D28D9"/>
                </a:solidFill>
                <a:latin typeface="Calibri"/>
                <a:ea typeface="Calibri"/>
                <a:cs typeface="Calibri"/>
              </a:rPr>
              <a:t/>
            </a:r>
            <a:endParaRPr sz="1250"/>
          </a:p>
        </p:txBody>
      </p:sp>
      <p:sp>
        <p:nvSpPr>
          <p:cNvPr id="25" name="Shape 22">
            <a:extLst xmlns:a="http://schemas.openxmlformats.org/drawingml/2006/main">
              <a:ext uri="{FF2B5EF4-FFF2-40B4-BE49-F238E27FC236}">
                <a16:creationId xmlns:a16="http://schemas.microsoft.com/office/drawing/2014/main" id="{A493E317-2F3E-409C-9230-432446B02E90}"/>
              </a:ext>
            </a:extLst>
          </p:cNvPr>
          <p:cNvSpPr>
            <a:spLocks xmlns:a="http://schemas.openxmlformats.org/drawingml/2006/main" noGrp="1"/>
          </p:cNvSpPr>
          <p:nvPr/>
        </p:nvSpPr>
        <p:spPr>
          <a:xfrm xmlns:a="http://schemas.openxmlformats.org/drawingml/2006/main">
            <a:off x="5484114" y="7406640"/>
            <a:ext cx="4844034" cy="2514600"/>
          </a:xfrm>
          <a:prstGeom xmlns:a="http://schemas.openxmlformats.org/drawingml/2006/main" prst="roundRect">
            <a:avLst>
              <a:gd name="adj" fmla="val 2727"/>
            </a:avLst>
          </a:prstGeom>
          <a:solidFill xmlns:a="http://schemas.openxmlformats.org/drawingml/2006/main">
            <a:srgbClr val="FFEDD5"/>
          </a:solidFill>
          <a:ln xmlns:a="http://schemas.openxmlformats.org/drawingml/2006/main" w="9525">
            <a:solidFill>
              <a:srgbClr val="C2410C"/>
            </a:solidFill>
            <a:prstDash val="solid"/>
          </a:ln>
        </p:spPr>
      </p:sp>
      <p:sp>
        <p:nvSpPr>
          <p:cNvPr id="26" name="Text 23">
            <a:extLst xmlns:a="http://schemas.openxmlformats.org/drawingml/2006/main">
              <a:ext uri="{FF2B5EF4-FFF2-40B4-BE49-F238E27FC236}">
                <a16:creationId xmlns:a16="http://schemas.microsoft.com/office/drawing/2014/main" id="{21BF1CA2-E385-486F-8881-BB740D1BB60B}"/>
              </a:ext>
            </a:extLst>
          </p:cNvPr>
          <p:cNvSpPr>
            <a:spLocks xmlns:a="http://schemas.openxmlformats.org/drawingml/2006/main" noGrp="1"/>
          </p:cNvSpPr>
          <p:nvPr/>
        </p:nvSpPr>
        <p:spPr>
          <a:xfrm xmlns:a="http://schemas.openxmlformats.org/drawingml/2006/main">
            <a:off x="5621274" y="7498080"/>
            <a:ext cx="456971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C2410C"/>
                </a:solidFill>
                <a:latin typeface="Calibri"/>
                <a:ea typeface="Calibri"/>
                <a:cs typeface="Calibri"/>
              </a:rPr>
              <a:t>ER Diagram &amp; Database Design</a:t>
            </a:r>
            <a:endParaRPr sz="1800"/>
          </a:p>
        </p:txBody>
      </p:sp>
      <p:sp>
        <p:nvSpPr>
          <p:cNvPr id="27" name="Shape 24">
            <a:extLst xmlns:a="http://schemas.openxmlformats.org/drawingml/2006/main">
              <a:ext uri="{FF2B5EF4-FFF2-40B4-BE49-F238E27FC236}">
                <a16:creationId xmlns:a16="http://schemas.microsoft.com/office/drawing/2014/main" id="{8941CF4A-0BCB-45FC-84A4-1BA13D1DF7D5}"/>
              </a:ext>
            </a:extLst>
          </p:cNvPr>
          <p:cNvSpPr>
            <a:spLocks xmlns:a="http://schemas.openxmlformats.org/drawingml/2006/main" noGrp="1"/>
          </p:cNvSpPr>
          <p:nvPr/>
        </p:nvSpPr>
        <p:spPr>
          <a:xfrm xmlns:a="http://schemas.openxmlformats.org/drawingml/2006/main">
            <a:off x="5621274" y="7863840"/>
            <a:ext cx="4569714" cy="1920240"/>
          </a:xfrm>
          <a:prstGeom xmlns:a="http://schemas.openxmlformats.org/drawingml/2006/main" prst="rect">
            <a:avLst/>
          </a:prstGeom>
          <a:solidFill xmlns:a="http://schemas.openxmlformats.org/drawingml/2006/main">
            <a:srgbClr val="FFFFFF"/>
          </a:solidFill>
          <a:ln xmlns:a="http://schemas.openxmlformats.org/drawingml/2006/main" w="9525">
            <a:solidFill>
              <a:srgbClr val="C2410C"/>
            </a:solidFill>
            <a:prstDash val="dash"/>
          </a:ln>
        </p:spPr>
      </p:sp>
      <p:sp>
        <p:nvSpPr>
          <p:cNvPr id="28" name="Text 25">
            <a:extLst xmlns:a="http://schemas.openxmlformats.org/drawingml/2006/main">
              <a:ext uri="{FF2B5EF4-FFF2-40B4-BE49-F238E27FC236}">
                <a16:creationId xmlns:a16="http://schemas.microsoft.com/office/drawing/2014/main" id="{E439F444-9314-449E-B086-32765712680B}"/>
              </a:ext>
            </a:extLst>
          </p:cNvPr>
          <p:cNvSpPr>
            <a:spLocks xmlns:a="http://schemas.openxmlformats.org/drawingml/2006/main" noGrp="1"/>
          </p:cNvSpPr>
          <p:nvPr/>
        </p:nvSpPr>
        <p:spPr>
          <a:xfrm xmlns:a="http://schemas.openxmlformats.org/drawingml/2006/main">
            <a:off x="5621274" y="7863840"/>
            <a:ext cx="4569714" cy="19202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ctr">
              <a:buNone/>
            </a:pPr>
            <a:r>
              <a:rPr sz="1250">
                <a:solidFill>
                  <a:srgbClr val="C2410C"/>
                </a:solidFill>
                <a:latin typeface="Calibri"/>
                <a:ea typeface="Calibri"/>
                <a:cs typeface="Calibri"/>
              </a:rPr>
              <a:t/>
            </a:r>
            <a:endParaRPr sz="1250"/>
          </a:p>
        </p:txBody>
      </p:sp>
      <p:sp>
        <p:nvSpPr>
          <p:cNvPr id="29" name="Shape 26">
            <a:extLst xmlns:a="http://schemas.openxmlformats.org/drawingml/2006/main">
              <a:ext uri="{FF2B5EF4-FFF2-40B4-BE49-F238E27FC236}">
                <a16:creationId xmlns:a16="http://schemas.microsoft.com/office/drawing/2014/main" id="{87127754-951D-4B50-99B5-612FD149FB26}"/>
              </a:ext>
            </a:extLst>
          </p:cNvPr>
          <p:cNvSpPr>
            <a:spLocks xmlns:a="http://schemas.openxmlformats.org/drawingml/2006/main" noGrp="1"/>
          </p:cNvSpPr>
          <p:nvPr/>
        </p:nvSpPr>
        <p:spPr>
          <a:xfrm xmlns:a="http://schemas.openxmlformats.org/drawingml/2006/main">
            <a:off x="5484114" y="10058400"/>
            <a:ext cx="4844034" cy="2377440"/>
          </a:xfrm>
          <a:prstGeom xmlns:a="http://schemas.openxmlformats.org/drawingml/2006/main" prst="roundRect">
            <a:avLst>
              <a:gd name="adj" fmla="val 2885"/>
            </a:avLst>
          </a:prstGeom>
          <a:solidFill xmlns:a="http://schemas.openxmlformats.org/drawingml/2006/main">
            <a:srgbClr val="CCFBF1"/>
          </a:solidFill>
          <a:ln xmlns:a="http://schemas.openxmlformats.org/drawingml/2006/main" w="9525">
            <a:solidFill>
              <a:srgbClr val="0F766E"/>
            </a:solidFill>
            <a:prstDash val="solid"/>
          </a:ln>
        </p:spPr>
      </p:sp>
      <p:sp>
        <p:nvSpPr>
          <p:cNvPr id="30" name="Text 27">
            <a:extLst xmlns:a="http://schemas.openxmlformats.org/drawingml/2006/main">
              <a:ext uri="{FF2B5EF4-FFF2-40B4-BE49-F238E27FC236}">
                <a16:creationId xmlns:a16="http://schemas.microsoft.com/office/drawing/2014/main" id="{3CBACD86-ABF9-43AF-944C-4DD7CE744A4E}"/>
              </a:ext>
            </a:extLst>
          </p:cNvPr>
          <p:cNvSpPr>
            <a:spLocks xmlns:a="http://schemas.openxmlformats.org/drawingml/2006/main" noGrp="1"/>
          </p:cNvSpPr>
          <p:nvPr/>
        </p:nvSpPr>
        <p:spPr>
          <a:xfrm xmlns:a="http://schemas.openxmlformats.org/drawingml/2006/main">
            <a:off x="5621274" y="10149840"/>
            <a:ext cx="456971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buNone/>
              <a:defRPr sz="1800" b="0">
                <a:solidFill>
                  <a:srgbClr val="0F766E"/>
                </a:solidFill>
                <a:latin typeface="Calibri"/>
                <a:ea typeface="Calibri"/>
                <a:cs typeface="Calibri"/>
              </a:defRPr>
            </a:pPr>
            <a:r>
              <a:rPr sz="1800" b="0">
                <a:solidFill>
                  <a:srgbClr val="0F766E"/>
                </a:solidFill>
                <a:latin typeface="Calibri"/>
                <a:ea typeface="Calibri"/>
                <a:cs typeface="Calibri"/>
              </a:rPr>
              <a:t>Implementation Features</a:t>
            </a:r>
            <a:endParaRPr sz="1800"/>
          </a:p>
        </p:txBody>
      </p:sp>
      <p:sp>
        <p:nvSpPr>
          <p:cNvPr id="31" name="Shape 28">
            <a:extLst xmlns:a="http://schemas.openxmlformats.org/drawingml/2006/main">
              <a:ext uri="{FF2B5EF4-FFF2-40B4-BE49-F238E27FC236}">
                <a16:creationId xmlns:a16="http://schemas.microsoft.com/office/drawing/2014/main" id="{996DDEF7-841F-4A57-BB1B-76ECEE33B8C9}"/>
              </a:ext>
            </a:extLst>
          </p:cNvPr>
          <p:cNvSpPr>
            <a:spLocks xmlns:a="http://schemas.openxmlformats.org/drawingml/2006/main" noGrp="1"/>
          </p:cNvSpPr>
          <p:nvPr/>
        </p:nvSpPr>
        <p:spPr>
          <a:xfrm xmlns:a="http://schemas.openxmlformats.org/drawingml/2006/main">
            <a:off x="5621274" y="10515600"/>
            <a:ext cx="2216277" cy="1783080"/>
          </a:xfrm>
          <a:prstGeom xmlns:a="http://schemas.openxmlformats.org/drawingml/2006/main" prst="rect">
            <a:avLst/>
          </a:prstGeom>
          <a:solidFill xmlns:a="http://schemas.openxmlformats.org/drawingml/2006/main">
            <a:srgbClr val="FFFFFF"/>
          </a:solidFill>
          <a:ln xmlns:a="http://schemas.openxmlformats.org/drawingml/2006/main" w="9525">
            <a:solidFill>
              <a:srgbClr val="0F766E"/>
            </a:solidFill>
            <a:prstDash val="dash"/>
          </a:ln>
        </p:spPr>
      </p:sp>
      <p:sp>
        <p:nvSpPr>
          <p:cNvPr id="32" name="Text 29">
            <a:extLst xmlns:a="http://schemas.openxmlformats.org/drawingml/2006/main">
              <a:ext uri="{FF2B5EF4-FFF2-40B4-BE49-F238E27FC236}">
                <a16:creationId xmlns:a16="http://schemas.microsoft.com/office/drawing/2014/main" id="{536BDDE8-2FD7-4531-9FEB-94097D691F6D}"/>
              </a:ext>
            </a:extLst>
          </p:cNvPr>
          <p:cNvSpPr>
            <a:spLocks xmlns:a="http://schemas.openxmlformats.org/drawingml/2006/main" noGrp="1"/>
          </p:cNvSpPr>
          <p:nvPr/>
        </p:nvSpPr>
        <p:spPr>
          <a:xfrm xmlns:a="http://schemas.openxmlformats.org/drawingml/2006/main">
            <a:off x="5621274" y="10515600"/>
            <a:ext cx="2216277" cy="17830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ATTENDEE</a:t>
            </a:r>
            <a:endParaRPr sz="1250"/>
          </a:p>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Register and log in</a:t>
            </a:r>
            <a:endParaRPr sz="1250"/>
          </a:p>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Search events</a:t>
            </a:r>
            <a:endParaRPr sz="1250"/>
          </a:p>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Book and pay</a:t>
            </a:r>
            <a:endParaRPr sz="1250"/>
          </a:p>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Download QR ticket</a:t>
            </a:r>
            <a:endParaRPr sz="1250"/>
          </a:p>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Cancel and track refunds</a:t>
            </a:r>
            <a:endParaRPr sz="1250"/>
          </a:p>
        </p:txBody>
      </p:sp>
      <p:sp>
        <p:nvSpPr>
          <p:cNvPr id="33" name="Shape 30">
            <a:extLst xmlns:a="http://schemas.openxmlformats.org/drawingml/2006/main">
              <a:ext uri="{FF2B5EF4-FFF2-40B4-BE49-F238E27FC236}">
                <a16:creationId xmlns:a16="http://schemas.microsoft.com/office/drawing/2014/main" id="{6F885270-80A4-4A0D-B564-E25F4E188734}"/>
              </a:ext>
            </a:extLst>
          </p:cNvPr>
          <p:cNvSpPr>
            <a:spLocks xmlns:a="http://schemas.openxmlformats.org/drawingml/2006/main" noGrp="1"/>
          </p:cNvSpPr>
          <p:nvPr/>
        </p:nvSpPr>
        <p:spPr>
          <a:xfrm xmlns:a="http://schemas.openxmlformats.org/drawingml/2006/main">
            <a:off x="7974711" y="10515600"/>
            <a:ext cx="2216277" cy="1783080"/>
          </a:xfrm>
          <a:prstGeom xmlns:a="http://schemas.openxmlformats.org/drawingml/2006/main" prst="rect">
            <a:avLst/>
          </a:prstGeom>
          <a:solidFill xmlns:a="http://schemas.openxmlformats.org/drawingml/2006/main">
            <a:srgbClr val="FFFFFF"/>
          </a:solidFill>
          <a:ln xmlns:a="http://schemas.openxmlformats.org/drawingml/2006/main" w="9525">
            <a:solidFill>
              <a:srgbClr val="0F766E"/>
            </a:solidFill>
            <a:prstDash val="dash"/>
          </a:ln>
        </p:spPr>
      </p:sp>
      <p:sp>
        <p:nvSpPr>
          <p:cNvPr id="34" name="Text 31">
            <a:extLst xmlns:a="http://schemas.openxmlformats.org/drawingml/2006/main">
              <a:ext uri="{FF2B5EF4-FFF2-40B4-BE49-F238E27FC236}">
                <a16:creationId xmlns:a16="http://schemas.microsoft.com/office/drawing/2014/main" id="{B250D90F-9599-4EC0-987D-147F42B3E21F}"/>
              </a:ext>
            </a:extLst>
          </p:cNvPr>
          <p:cNvSpPr>
            <a:spLocks xmlns:a="http://schemas.openxmlformats.org/drawingml/2006/main" noGrp="1"/>
          </p:cNvSpPr>
          <p:nvPr/>
        </p:nvSpPr>
        <p:spPr>
          <a:xfrm xmlns:a="http://schemas.openxmlformats.org/drawingml/2006/main">
            <a:off x="7974711" y="10515600"/>
            <a:ext cx="2216277" cy="17830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ADMIN</a:t>
            </a:r>
            <a:endParaRPr sz="1250"/>
          </a:p>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Create and edit events</a:t>
            </a:r>
            <a:endParaRPr sz="1250"/>
          </a:p>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Manage attendees</a:t>
            </a:r>
            <a:endParaRPr sz="1250"/>
          </a:p>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Scan QR for check-in</a:t>
            </a:r>
            <a:endParaRPr sz="1250"/>
          </a:p>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Reject duplicate entry</a:t>
            </a:r>
            <a:endParaRPr sz="1250"/>
          </a:p>
          <a:p xmlns:a="http://schemas.openxmlformats.org/drawingml/2006/main">
            <a:pPr marL="0" indent="0" algn="ctr">
              <a:buNone/>
              <a:defRPr sz="1275" b="0">
                <a:solidFill>
                  <a:srgbClr val="0F766E"/>
                </a:solidFill>
                <a:latin typeface="Calibri"/>
                <a:ea typeface="Calibri"/>
                <a:cs typeface="Calibri"/>
              </a:defRPr>
            </a:pPr>
            <a:r>
              <a:rPr sz="1275" b="0">
                <a:solidFill>
                  <a:srgbClr val="0F766E"/>
                </a:solidFill>
                <a:latin typeface="Calibri"/>
                <a:ea typeface="Calibri"/>
                <a:cs typeface="Calibri"/>
              </a:rPr>
              <a:t>Send announcements</a:t>
            </a:r>
            <a:endParaRPr sz="1250"/>
          </a:p>
        </p:txBody>
      </p:sp>
      <p:sp>
        <p:nvSpPr>
          <p:cNvPr id="35" name="Shape 32">
            <a:extLst xmlns:a="http://schemas.openxmlformats.org/drawingml/2006/main">
              <a:ext uri="{FF2B5EF4-FFF2-40B4-BE49-F238E27FC236}">
                <a16:creationId xmlns:a16="http://schemas.microsoft.com/office/drawing/2014/main" id="{03008A8A-327F-4A11-91CF-9C7AE5FCC891}"/>
              </a:ext>
            </a:extLst>
          </p:cNvPr>
          <p:cNvSpPr>
            <a:spLocks xmlns:a="http://schemas.openxmlformats.org/drawingml/2006/main" noGrp="1"/>
          </p:cNvSpPr>
          <p:nvPr/>
        </p:nvSpPr>
        <p:spPr>
          <a:xfrm xmlns:a="http://schemas.openxmlformats.org/drawingml/2006/main">
            <a:off x="365760" y="12573000"/>
            <a:ext cx="3137916" cy="1645920"/>
          </a:xfrm>
          <a:prstGeom xmlns:a="http://schemas.openxmlformats.org/drawingml/2006/main" prst="roundRect">
            <a:avLst>
              <a:gd name="adj" fmla="val 4167"/>
            </a:avLst>
          </a:prstGeom>
          <a:solidFill xmlns:a="http://schemas.openxmlformats.org/drawingml/2006/main">
            <a:srgbClr val="FEE2E2"/>
          </a:solidFill>
          <a:ln xmlns:a="http://schemas.openxmlformats.org/drawingml/2006/main" w="9525">
            <a:solidFill>
              <a:srgbClr val="B91C1C"/>
            </a:solidFill>
            <a:prstDash val="solid"/>
          </a:ln>
        </p:spPr>
      </p:sp>
      <p:sp>
        <p:nvSpPr>
          <p:cNvPr id="36" name="Text 33">
            <a:extLst xmlns:a="http://schemas.openxmlformats.org/drawingml/2006/main">
              <a:ext uri="{FF2B5EF4-FFF2-40B4-BE49-F238E27FC236}">
                <a16:creationId xmlns:a16="http://schemas.microsoft.com/office/drawing/2014/main" id="{83030BE7-76AD-498E-9F36-C9E2761D3E4B}"/>
              </a:ext>
            </a:extLst>
          </p:cNvPr>
          <p:cNvSpPr>
            <a:spLocks xmlns:a="http://schemas.openxmlformats.org/drawingml/2006/main" noGrp="1"/>
          </p:cNvSpPr>
          <p:nvPr/>
        </p:nvSpPr>
        <p:spPr>
          <a:xfrm xmlns:a="http://schemas.openxmlformats.org/drawingml/2006/main">
            <a:off x="502920" y="12664440"/>
            <a:ext cx="286359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buNone/>
              <a:defRPr sz="1800" b="0">
                <a:solidFill>
                  <a:srgbClr val="B91C1C"/>
                </a:solidFill>
                <a:latin typeface="Calibri"/>
                <a:ea typeface="Calibri"/>
                <a:cs typeface="Calibri"/>
              </a:defRPr>
            </a:pPr>
            <a:r>
              <a:rPr sz="1800" b="0">
                <a:solidFill>
                  <a:srgbClr val="B91C1C"/>
                </a:solidFill>
                <a:latin typeface="Calibri"/>
                <a:ea typeface="Calibri"/>
                <a:cs typeface="Calibri"/>
              </a:rPr>
              <a:t>Results &amp; Validation</a:t>
            </a:r>
            <a:endParaRPr sz="1800"/>
          </a:p>
        </p:txBody>
      </p:sp>
      <p:sp>
        <p:nvSpPr>
          <p:cNvPr id="37" name="Text 34">
            <a:extLst xmlns:a="http://schemas.openxmlformats.org/drawingml/2006/main">
              <a:ext uri="{FF2B5EF4-FFF2-40B4-BE49-F238E27FC236}">
                <a16:creationId xmlns:a16="http://schemas.microsoft.com/office/drawing/2014/main" id="{A8027754-F193-46D7-A95D-ACE405824134}"/>
              </a:ext>
            </a:extLst>
          </p:cNvPr>
          <p:cNvSpPr>
            <a:spLocks xmlns:a="http://schemas.openxmlformats.org/drawingml/2006/main" noGrp="1"/>
          </p:cNvSpPr>
          <p:nvPr/>
        </p:nvSpPr>
        <p:spPr>
          <a:xfrm xmlns:a="http://schemas.openxmlformats.org/drawingml/2006/main">
            <a:off x="502920" y="13030200"/>
            <a:ext cx="2863596"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spcAft>
                <a:spcPts val="400"/>
              </a:spcAft>
              <a:buSzPct val="100000"/>
              <a:buChar char="•"/>
              <a:defRPr sz="1350" b="0">
                <a:solidFill>
                  <a:srgbClr val="1E293B"/>
                </a:solidFill>
                <a:latin typeface="Calibri"/>
                <a:ea typeface="Calibri"/>
                <a:cs typeface="Calibri"/>
              </a:defRPr>
            </a:pPr>
            <a:r>
              <a:rPr sz="1350" b="0">
                <a:solidFill>
                  <a:srgbClr val="1E293B"/>
                </a:solidFill>
                <a:latin typeface="Calibri"/>
                <a:ea typeface="Calibri"/>
                <a:cs typeface="Calibri"/>
              </a:rPr>
              <a:t>Digital booking and QR entry flow.</a:t>
            </a:r>
            <a:endParaRPr sz="1550"/>
          </a:p>
          <a:p xmlns:a="http://schemas.openxmlformats.org/drawingml/2006/main">
            <a:pPr marL="342900" indent="-342900">
              <a:spcAft>
                <a:spcPts val="400"/>
              </a:spcAft>
              <a:buSzPct val="100000"/>
              <a:buChar char="•"/>
              <a:defRPr sz="1350" b="0">
                <a:solidFill>
                  <a:srgbClr val="1E293B"/>
                </a:solidFill>
                <a:latin typeface="Calibri"/>
                <a:ea typeface="Calibri"/>
                <a:cs typeface="Calibri"/>
              </a:defRPr>
            </a:pPr>
            <a:r>
              <a:rPr sz="1350" b="0">
                <a:solidFill>
                  <a:srgbClr val="1E293B"/>
                </a:solidFill>
                <a:latin typeface="Calibri"/>
                <a:ea typeface="Calibri"/>
                <a:cs typeface="Calibri"/>
              </a:rPr>
              <a:t>Review checks: login, event CRUD, seat capacity and duplicate check-in.</a:t>
            </a:r>
            <a:endParaRPr sz="1550"/>
          </a:p>
        </p:txBody>
      </p:sp>
      <p:sp>
        <p:nvSpPr>
          <p:cNvPr id="38" name="Shape 35">
            <a:extLst xmlns:a="http://schemas.openxmlformats.org/drawingml/2006/main">
              <a:ext uri="{FF2B5EF4-FFF2-40B4-BE49-F238E27FC236}">
                <a16:creationId xmlns:a16="http://schemas.microsoft.com/office/drawing/2014/main" id="{359B7F14-119E-4A25-9F37-BAA7A2B20071}"/>
              </a:ext>
            </a:extLst>
          </p:cNvPr>
          <p:cNvSpPr>
            <a:spLocks xmlns:a="http://schemas.openxmlformats.org/drawingml/2006/main" noGrp="1"/>
          </p:cNvSpPr>
          <p:nvPr/>
        </p:nvSpPr>
        <p:spPr>
          <a:xfrm xmlns:a="http://schemas.openxmlformats.org/drawingml/2006/main">
            <a:off x="3777996" y="12573000"/>
            <a:ext cx="3137916" cy="1645920"/>
          </a:xfrm>
          <a:prstGeom xmlns:a="http://schemas.openxmlformats.org/drawingml/2006/main" prst="roundRect">
            <a:avLst>
              <a:gd name="adj" fmla="val 4167"/>
            </a:avLst>
          </a:prstGeom>
          <a:solidFill xmlns:a="http://schemas.openxmlformats.org/drawingml/2006/main">
            <a:srgbClr val="ECFCCB"/>
          </a:solidFill>
          <a:ln xmlns:a="http://schemas.openxmlformats.org/drawingml/2006/main" w="9525">
            <a:solidFill>
              <a:srgbClr val="4D7C0F"/>
            </a:solidFill>
            <a:prstDash val="solid"/>
          </a:ln>
        </p:spPr>
      </p:sp>
      <p:sp>
        <p:nvSpPr>
          <p:cNvPr id="39" name="Text 36">
            <a:extLst xmlns:a="http://schemas.openxmlformats.org/drawingml/2006/main">
              <a:ext uri="{FF2B5EF4-FFF2-40B4-BE49-F238E27FC236}">
                <a16:creationId xmlns:a16="http://schemas.microsoft.com/office/drawing/2014/main" id="{23E90D9D-5944-4828-B23E-269DD793801C}"/>
              </a:ext>
            </a:extLst>
          </p:cNvPr>
          <p:cNvSpPr>
            <a:spLocks xmlns:a="http://schemas.openxmlformats.org/drawingml/2006/main" noGrp="1"/>
          </p:cNvSpPr>
          <p:nvPr/>
        </p:nvSpPr>
        <p:spPr>
          <a:xfrm xmlns:a="http://schemas.openxmlformats.org/drawingml/2006/main">
            <a:off x="3915156" y="12664440"/>
            <a:ext cx="286359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4D7C0F"/>
                </a:solidFill>
                <a:latin typeface="Calibri"/>
                <a:ea typeface="Calibri"/>
                <a:cs typeface="Calibri"/>
              </a:rPr>
              <a:t>Conclusion</a:t>
            </a:r>
            <a:endParaRPr sz="1800"/>
          </a:p>
        </p:txBody>
      </p:sp>
      <p:sp>
        <p:nvSpPr>
          <p:cNvPr id="40" name="Text 37">
            <a:extLst xmlns:a="http://schemas.openxmlformats.org/drawingml/2006/main">
              <a:ext uri="{FF2B5EF4-FFF2-40B4-BE49-F238E27FC236}">
                <a16:creationId xmlns:a16="http://schemas.microsoft.com/office/drawing/2014/main" id="{48ABE6F5-7C02-429A-BDAF-A9A41BA0D223}"/>
              </a:ext>
            </a:extLst>
          </p:cNvPr>
          <p:cNvSpPr>
            <a:spLocks xmlns:a="http://schemas.openxmlformats.org/drawingml/2006/main" noGrp="1"/>
          </p:cNvSpPr>
          <p:nvPr/>
        </p:nvSpPr>
        <p:spPr>
          <a:xfrm xmlns:a="http://schemas.openxmlformats.org/drawingml/2006/main">
            <a:off x="3915156" y="13030200"/>
            <a:ext cx="2863596"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spcAft>
                <a:spcPts val="400"/>
              </a:spcAft>
              <a:buSzPct val="100000"/>
              <a:buChar char="•"/>
              <a:defRPr sz="1350" b="0">
                <a:solidFill>
                  <a:srgbClr val="1E293B"/>
                </a:solidFill>
                <a:latin typeface="Calibri"/>
                <a:ea typeface="Calibri"/>
                <a:cs typeface="Calibri"/>
              </a:defRPr>
            </a:pPr>
            <a:r>
              <a:rPr sz="1350" b="0">
                <a:solidFill>
                  <a:srgbClr val="1E293B"/>
                </a:solidFill>
                <a:latin typeface="Calibri"/>
                <a:ea typeface="Calibri"/>
                <a:cs typeface="Calibri"/>
              </a:rPr>
              <a:t>One platform connects event discovery, booking and entry.</a:t>
            </a:r>
            <a:endParaRPr sz="1550"/>
          </a:p>
          <a:p xmlns:a="http://schemas.openxmlformats.org/drawingml/2006/main">
            <a:pPr marL="342900" indent="-342900">
              <a:spcAft>
                <a:spcPts val="400"/>
              </a:spcAft>
              <a:buSzPct val="100000"/>
              <a:buChar char="•"/>
              <a:defRPr sz="1350" b="0">
                <a:solidFill>
                  <a:srgbClr val="1E293B"/>
                </a:solidFill>
                <a:latin typeface="Calibri"/>
                <a:ea typeface="Calibri"/>
                <a:cs typeface="Calibri"/>
              </a:defRPr>
            </a:pPr>
            <a:r>
              <a:rPr sz="1350" b="0">
                <a:solidFill>
                  <a:srgbClr val="1E293B"/>
                </a:solidFill>
                <a:latin typeface="Calibri"/>
                <a:ea typeface="Calibri"/>
                <a:cs typeface="Calibri"/>
              </a:rPr>
              <a:t>Self-service reduces paperwork and manual coordination.</a:t>
            </a:r>
            <a:endParaRPr sz="1550"/>
          </a:p>
        </p:txBody>
      </p:sp>
      <p:sp>
        <p:nvSpPr>
          <p:cNvPr id="41" name="Shape 38">
            <a:extLst xmlns:a="http://schemas.openxmlformats.org/drawingml/2006/main">
              <a:ext uri="{FF2B5EF4-FFF2-40B4-BE49-F238E27FC236}">
                <a16:creationId xmlns:a16="http://schemas.microsoft.com/office/drawing/2014/main" id="{D707A9A7-7BFC-41CF-8314-E9AF28625C8B}"/>
              </a:ext>
            </a:extLst>
          </p:cNvPr>
          <p:cNvSpPr>
            <a:spLocks xmlns:a="http://schemas.openxmlformats.org/drawingml/2006/main" noGrp="1"/>
          </p:cNvSpPr>
          <p:nvPr/>
        </p:nvSpPr>
        <p:spPr>
          <a:xfrm xmlns:a="http://schemas.openxmlformats.org/drawingml/2006/main">
            <a:off x="7190232" y="12573000"/>
            <a:ext cx="3137916" cy="1645920"/>
          </a:xfrm>
          <a:prstGeom xmlns:a="http://schemas.openxmlformats.org/drawingml/2006/main" prst="roundRect">
            <a:avLst>
              <a:gd name="adj" fmla="val 4167"/>
            </a:avLst>
          </a:prstGeom>
          <a:solidFill xmlns:a="http://schemas.openxmlformats.org/drawingml/2006/main">
            <a:srgbClr val="FAE8FF"/>
          </a:solidFill>
          <a:ln xmlns:a="http://schemas.openxmlformats.org/drawingml/2006/main" w="9525">
            <a:solidFill>
              <a:srgbClr val="A21CAF"/>
            </a:solidFill>
            <a:prstDash val="solid"/>
          </a:ln>
        </p:spPr>
      </p:sp>
      <p:sp>
        <p:nvSpPr>
          <p:cNvPr id="42" name="Text 39">
            <a:extLst xmlns:a="http://schemas.openxmlformats.org/drawingml/2006/main">
              <a:ext uri="{FF2B5EF4-FFF2-40B4-BE49-F238E27FC236}">
                <a16:creationId xmlns:a16="http://schemas.microsoft.com/office/drawing/2014/main" id="{B5202C1C-D27B-46BC-B1D8-E6DF4875F340}"/>
              </a:ext>
            </a:extLst>
          </p:cNvPr>
          <p:cNvSpPr>
            <a:spLocks xmlns:a="http://schemas.openxmlformats.org/drawingml/2006/main" noGrp="1"/>
          </p:cNvSpPr>
          <p:nvPr/>
        </p:nvSpPr>
        <p:spPr>
          <a:xfrm xmlns:a="http://schemas.openxmlformats.org/drawingml/2006/main">
            <a:off x="7327392" y="12664440"/>
            <a:ext cx="286359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A21CAF"/>
                </a:solidFill>
                <a:latin typeface="Calibri"/>
                <a:ea typeface="Calibri"/>
                <a:cs typeface="Calibri"/>
              </a:rPr>
              <a:t>Future Scope</a:t>
            </a:r>
            <a:endParaRPr sz="1800"/>
          </a:p>
        </p:txBody>
      </p:sp>
      <p:sp>
        <p:nvSpPr>
          <p:cNvPr id="43" name="Text 40">
            <a:extLst xmlns:a="http://schemas.openxmlformats.org/drawingml/2006/main">
              <a:ext uri="{FF2B5EF4-FFF2-40B4-BE49-F238E27FC236}">
                <a16:creationId xmlns:a16="http://schemas.microsoft.com/office/drawing/2014/main" id="{83E3212E-2C4A-4836-A13A-8A77B6A46E1A}"/>
              </a:ext>
            </a:extLst>
          </p:cNvPr>
          <p:cNvSpPr>
            <a:spLocks xmlns:a="http://schemas.openxmlformats.org/drawingml/2006/main" noGrp="1"/>
          </p:cNvSpPr>
          <p:nvPr/>
        </p:nvSpPr>
        <p:spPr>
          <a:xfrm xmlns:a="http://schemas.openxmlformats.org/drawingml/2006/main">
            <a:off x="7327392" y="13030200"/>
            <a:ext cx="2863596"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spcAft>
                <a:spcPts val="400"/>
              </a:spcAft>
              <a:buSzPct val="100000"/>
              <a:buChar char="•"/>
              <a:defRPr sz="1350" b="0">
                <a:solidFill>
                  <a:srgbClr val="1E293B"/>
                </a:solidFill>
                <a:latin typeface="Calibri"/>
                <a:ea typeface="Calibri"/>
                <a:cs typeface="Calibri"/>
              </a:defRPr>
            </a:pPr>
            <a:r>
              <a:rPr sz="1350" b="0">
                <a:solidFill>
                  <a:srgbClr val="1E293B"/>
                </a:solidFill>
                <a:latin typeface="Calibri"/>
                <a:ea typeface="Calibri"/>
                <a:cs typeface="Calibri"/>
              </a:rPr>
              <a:t>Event recommendations based on interests.</a:t>
            </a:r>
            <a:endParaRPr sz="1550"/>
          </a:p>
          <a:p xmlns:a="http://schemas.openxmlformats.org/drawingml/2006/main">
            <a:pPr marL="342900" indent="-342900">
              <a:spcAft>
                <a:spcPts val="400"/>
              </a:spcAft>
              <a:buSzPct val="100000"/>
              <a:buChar char="•"/>
              <a:defRPr sz="1350" b="0">
                <a:solidFill>
                  <a:srgbClr val="1E293B"/>
                </a:solidFill>
                <a:latin typeface="Calibri"/>
                <a:ea typeface="Calibri"/>
                <a:cs typeface="Calibri"/>
              </a:defRPr>
            </a:pPr>
            <a:r>
              <a:rPr sz="1350" b="0">
                <a:solidFill>
                  <a:srgbClr val="1E293B"/>
                </a:solidFill>
                <a:latin typeface="Calibri"/>
                <a:ea typeface="Calibri"/>
                <a:cs typeface="Calibri"/>
              </a:rPr>
              <a:t>Maps, push reminders and richer attendance analytics.</a:t>
            </a:r>
            <a:endParaRPr sz="1550"/>
          </a:p>
        </p:txBody>
      </p:sp>
      <p:sp>
        <p:nvSpPr>
          <p:cNvPr id="44" name="Text 41">
            <a:extLst xmlns:a="http://schemas.openxmlformats.org/drawingml/2006/main">
              <a:ext uri="{FF2B5EF4-FFF2-40B4-BE49-F238E27FC236}">
                <a16:creationId xmlns:a16="http://schemas.microsoft.com/office/drawing/2014/main" id="{554F94B8-6D78-4E3C-B65F-106B8603985B}"/>
              </a:ext>
            </a:extLst>
          </p:cNvPr>
          <p:cNvSpPr>
            <a:spLocks xmlns:a="http://schemas.openxmlformats.org/drawingml/2006/main" noGrp="1"/>
          </p:cNvSpPr>
          <p:nvPr/>
        </p:nvSpPr>
        <p:spPr>
          <a:xfrm xmlns:a="http://schemas.openxmlformats.org/drawingml/2006/main">
            <a:off x="365760" y="14356080"/>
            <a:ext cx="767638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buNone/>
              <a:defRPr sz="1050" b="0">
                <a:solidFill>
                  <a:srgbClr val="1E293B"/>
                </a:solidFill>
                <a:latin typeface="Calibri"/>
                <a:ea typeface="Calibri"/>
                <a:cs typeface="Calibri"/>
              </a:defRPr>
            </a:pPr>
            <a:r>
              <a:rPr sz="1050" b="0">
                <a:solidFill>
                  <a:srgbClr val="1E293B"/>
                </a:solidFill>
                <a:latin typeface="Calibri"/>
                <a:ea typeface="Calibri"/>
                <a:cs typeface="Calibri"/>
              </a:rPr>
              <a:t>Sources: Review 1 and Review 2 presentations</a:t>
            </a:r>
            <a:endParaRPr sz="1100"/>
          </a:p>
          <a:p xmlns:a="http://schemas.openxmlformats.org/drawingml/2006/main">
            <a:pPr marL="0" indent="0">
              <a:buNone/>
              <a:defRPr sz="1050" b="0">
                <a:solidFill>
                  <a:srgbClr val="1E293B"/>
                </a:solidFill>
                <a:latin typeface="Calibri"/>
                <a:ea typeface="Calibri"/>
                <a:cs typeface="Calibri"/>
              </a:defRPr>
            </a:pPr>
            <a:r>
              <a:rPr sz="1050" b="0">
                <a:solidFill>
                  <a:srgbClr val="1E293B"/>
                </a:solidFill>
                <a:latin typeface="Calibri"/>
                <a:ea typeface="Calibri"/>
                <a:cs typeface="Calibri"/>
              </a:rPr>
              <a:t>Project README and DBMS Review Guide</a:t>
            </a:r>
            <a:endParaRPr sz="1100"/>
          </a:p>
        </p:txBody>
      </p:sp>
      <p:sp>
        <p:nvSpPr>
          <p:cNvPr id="45" name="Shape 42">
            <a:extLst xmlns:a="http://schemas.openxmlformats.org/drawingml/2006/main">
              <a:ext uri="{FF2B5EF4-FFF2-40B4-BE49-F238E27FC236}">
                <a16:creationId xmlns:a16="http://schemas.microsoft.com/office/drawing/2014/main" id="{3C0B7FB3-84C0-4012-8469-745EC20A9BD7}"/>
              </a:ext>
            </a:extLst>
          </p:cNvPr>
          <p:cNvSpPr>
            <a:spLocks xmlns:a="http://schemas.openxmlformats.org/drawingml/2006/main" noGrp="1"/>
          </p:cNvSpPr>
          <p:nvPr/>
        </p:nvSpPr>
        <p:spPr>
          <a:xfrm xmlns:a="http://schemas.openxmlformats.org/drawingml/2006/main">
            <a:off x="9505188" y="14264640"/>
            <a:ext cx="822960" cy="82296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6" name="Text 43">
            <a:extLst xmlns:a="http://schemas.openxmlformats.org/drawingml/2006/main">
              <a:ext uri="{FF2B5EF4-FFF2-40B4-BE49-F238E27FC236}">
                <a16:creationId xmlns:a16="http://schemas.microsoft.com/office/drawing/2014/main" id="{05376BCB-B438-4117-A154-23DB1165A54A}"/>
              </a:ext>
            </a:extLst>
          </p:cNvPr>
          <p:cNvSpPr>
            <a:spLocks xmlns:a="http://schemas.openxmlformats.org/drawingml/2006/main" noGrp="1"/>
          </p:cNvSpPr>
          <p:nvPr/>
        </p:nvSpPr>
        <p:spPr>
          <a:xfrm xmlns:a="http://schemas.openxmlformats.org/drawingml/2006/main">
            <a:off x="9505188" y="14264640"/>
            <a:ext cx="822960" cy="8229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ctr">
              <a:buNone/>
            </a:pPr>
            <a:r>
              <a:rPr sz="900">
                <a:solidFill>
                  <a:srgbClr val="64748B"/>
                </a:solidFill>
                <a:latin typeface="Calibri"/>
                <a:ea typeface="Calibri"/>
                <a:cs typeface="Calibri"/>
              </a:rPr>
              <a:t/>
            </a:r>
            <a:endParaRPr sz="900"/>
          </a:p>
        </p:txBody>
      </p:sp>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8583048bc0644cb9"/>
          <a:stretch xmlns:a="http://schemas.openxmlformats.org/drawingml/2006/main"/>
        </p:blipFill>
        <p:spPr>
          <a:xfrm xmlns:a="http://schemas.openxmlformats.org/drawingml/2006/main">
            <a:off x="400050" y="674970"/>
            <a:ext cx="1200150" cy="574110"/>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89605E4A-DF81-4BC0-B48E-8D2575558A77}"/>
              </a:ext>
            </a:extLst>
          </p:cNvPr>
          <p:cNvSpPr>
            <a:spLocks xmlns:a="http://schemas.openxmlformats.org/drawingml/2006/main" noGrp="1"/>
          </p:cNvSpPr>
          <p:nvPr/>
        </p:nvSpPr>
        <p:spPr>
          <a:xfrm xmlns:a="http://schemas.openxmlformats.org/drawingml/2006/main">
            <a:off x="1920240" y="361950"/>
            <a:ext cx="8407908"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Calibri"/>
                <a:ea typeface="Calibri"/>
                <a:cs typeface="Calibri"/>
              </a:defRPr>
            </a:pPr>
            <a:r>
              <a:rPr sz="2100" b="1">
                <a:solidFill>
                  <a:srgbClr val="FFFFFF"/>
                </a:solidFill>
                <a:latin typeface="Calibri"/>
                <a:ea typeface="Calibri"/>
                <a:cs typeface="Calibri"/>
              </a:rPr>
              <a:t>Event Management Mobile Application</a:t>
            </a:r>
          </a:p>
          <a:p xmlns:a="http://schemas.openxmlformats.org/drawingml/2006/main">
            <a:pPr>
              <a:defRPr sz="2100" b="1">
                <a:solidFill>
                  <a:srgbClr val="FFFFFF"/>
                </a:solidFill>
                <a:latin typeface="Calibri"/>
                <a:ea typeface="Calibri"/>
                <a:cs typeface="Calibri"/>
              </a:defRPr>
            </a:pPr>
            <a:r>
              <a:rPr sz="2100" b="1">
                <a:solidFill>
                  <a:srgbClr val="FFFFFF"/>
                </a:solidFill>
                <a:latin typeface="Calibri"/>
                <a:ea typeface="Calibri"/>
                <a:cs typeface="Calibri"/>
              </a:rPr>
              <a:t>for Attendee Self-Service</a:t>
            </a:r>
          </a:p>
        </p:txBody>
      </p:sp>
      <p:sp>
        <p:nvSpPr>
          <p:cNvPr id="50" name="">
            <a:extLst xmlns:a="http://schemas.openxmlformats.org/drawingml/2006/main">
              <a:ext uri="{FF2B5EF4-FFF2-40B4-BE49-F238E27FC236}">
                <a16:creationId xmlns:a16="http://schemas.microsoft.com/office/drawing/2014/main" id="{B0029DA1-8D91-4CF4-A346-76509BEAD96A}"/>
              </a:ext>
            </a:extLst>
          </p:cNvPr>
          <p:cNvSpPr>
            <a:spLocks xmlns:a="http://schemas.openxmlformats.org/drawingml/2006/main" noGrp="1"/>
          </p:cNvSpPr>
          <p:nvPr/>
        </p:nvSpPr>
        <p:spPr>
          <a:xfrm xmlns:a="http://schemas.openxmlformats.org/drawingml/2006/main">
            <a:off x="1920240" y="942975"/>
            <a:ext cx="838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FDE68A"/>
                </a:solidFill>
                <a:latin typeface="Calibri"/>
                <a:ea typeface="Calibri"/>
                <a:cs typeface="Calibri"/>
              </a:defRPr>
            </a:pPr>
            <a:r>
              <a:rPr sz="1350" b="1">
                <a:solidFill>
                  <a:srgbClr val="FDE68A"/>
                </a:solidFill>
                <a:latin typeface="Calibri"/>
                <a:ea typeface="Calibri"/>
                <a:cs typeface="Calibri"/>
              </a:rPr>
              <a:t>Team 23     Section 12</a:t>
            </a:r>
          </a:p>
        </p:txBody>
      </p:sp>
      <p:sp>
        <p:nvSpPr>
          <p:cNvPr id="51" name="">
            <a:extLst xmlns:a="http://schemas.openxmlformats.org/drawingml/2006/main">
              <a:ext uri="{FF2B5EF4-FFF2-40B4-BE49-F238E27FC236}">
                <a16:creationId xmlns:a16="http://schemas.microsoft.com/office/drawing/2014/main" id="{5F2B5AAA-423D-41A5-BB43-97563A02A225}"/>
              </a:ext>
            </a:extLst>
          </p:cNvPr>
          <p:cNvSpPr>
            <a:spLocks xmlns:a="http://schemas.openxmlformats.org/drawingml/2006/main" noGrp="1"/>
          </p:cNvSpPr>
          <p:nvPr/>
        </p:nvSpPr>
        <p:spPr>
          <a:xfrm xmlns:a="http://schemas.openxmlformats.org/drawingml/2006/main">
            <a:off x="1920240" y="1171575"/>
            <a:ext cx="838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FDE68A"/>
                </a:solidFill>
                <a:latin typeface="Calibri"/>
                <a:ea typeface="Calibri"/>
                <a:cs typeface="Calibri"/>
              </a:defRPr>
            </a:pPr>
            <a:r>
              <a:rPr sz="1275" b="0">
                <a:solidFill>
                  <a:srgbClr val="FDE68A"/>
                </a:solidFill>
                <a:latin typeface="Calibri"/>
                <a:ea typeface="Calibri"/>
                <a:cs typeface="Calibri"/>
              </a:rPr>
              <a:t>P.Praveena - 2520090057     P.Srija - 2520090053</a:t>
            </a:r>
          </a:p>
          <a:p xmlns:a="http://schemas.openxmlformats.org/drawingml/2006/main">
            <a:pPr>
              <a:defRPr sz="1275" b="0">
                <a:solidFill>
                  <a:srgbClr val="FDE68A"/>
                </a:solidFill>
                <a:latin typeface="Calibri"/>
                <a:ea typeface="Calibri"/>
                <a:cs typeface="Calibri"/>
              </a:defRPr>
            </a:pPr>
            <a:r>
              <a:rPr sz="1275" b="0">
                <a:solidFill>
                  <a:srgbClr val="FDE68A"/>
                </a:solidFill>
                <a:latin typeface="Calibri"/>
                <a:ea typeface="Calibri"/>
                <a:cs typeface="Calibri"/>
              </a:rPr>
              <a:t>D.Varun Teja Reddy - 2520090221</a:t>
            </a:r>
          </a:p>
        </p:txBody>
      </p:sp>
      <p:sp>
        <p:nvSpPr>
          <p:cNvPr id="52" name="">
            <a:extLst xmlns:a="http://schemas.openxmlformats.org/drawingml/2006/main">
              <a:ext uri="{FF2B5EF4-FFF2-40B4-BE49-F238E27FC236}">
                <a16:creationId xmlns:a16="http://schemas.microsoft.com/office/drawing/2014/main" id="{E653955C-D26E-40AD-BD7A-D5ED548CAE42}"/>
              </a:ext>
            </a:extLst>
          </p:cNvPr>
          <p:cNvSpPr>
            <a:spLocks xmlns:a="http://schemas.openxmlformats.org/drawingml/2006/main" noGrp="1"/>
          </p:cNvSpPr>
          <p:nvPr/>
        </p:nvSpPr>
        <p:spPr>
          <a:xfrm xmlns:a="http://schemas.openxmlformats.org/drawingml/2006/main">
            <a:off x="1920240" y="159067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FDE68A"/>
                </a:solidFill>
                <a:latin typeface="Calibri"/>
                <a:ea typeface="Calibri"/>
                <a:cs typeface="Calibri"/>
              </a:defRPr>
            </a:pPr>
            <a:r>
              <a:rPr sz="975" b="0">
                <a:solidFill>
                  <a:srgbClr val="FDE68A"/>
                </a:solidFill>
                <a:latin typeface="Calibri"/>
                <a:ea typeface="Calibri"/>
                <a:cs typeface="Calibri"/>
              </a:rPr>
              <a:t>Database Systems Engineering and Distributed Backend Development (25CS1302E)</a:t>
            </a:r>
          </a:p>
          <a:p xmlns:a="http://schemas.openxmlformats.org/drawingml/2006/main">
            <a:pPr>
              <a:defRPr sz="975" b="0">
                <a:solidFill>
                  <a:srgbClr val="FDE68A"/>
                </a:solidFill>
                <a:latin typeface="Calibri"/>
                <a:ea typeface="Calibri"/>
                <a:cs typeface="Calibri"/>
              </a:defRPr>
            </a:pPr>
            <a:r>
              <a:rPr sz="975" b="0">
                <a:solidFill>
                  <a:srgbClr val="FDE68A"/>
                </a:solidFill>
                <a:latin typeface="Calibri"/>
                <a:ea typeface="Calibri"/>
                <a:cs typeface="Calibri"/>
              </a:rPr>
              <a:t>KLH Bachupally Campus, CSE     PBL 2026-27</a:t>
            </a:r>
          </a:p>
        </p:txBody>
      </p:sp>
      <p:sp>
        <p:nvSpPr>
          <p:cNvPr id="53" name="">
            <a:extLst xmlns:a="http://schemas.openxmlformats.org/drawingml/2006/main">
              <a:ext uri="{FF2B5EF4-FFF2-40B4-BE49-F238E27FC236}">
                <a16:creationId xmlns:a16="http://schemas.microsoft.com/office/drawing/2014/main" id="{7235EF85-7044-4297-ABF6-F57A85ADFA84}"/>
              </a:ext>
            </a:extLst>
          </p:cNvPr>
          <p:cNvSpPr>
            <a:spLocks xmlns:a="http://schemas.openxmlformats.org/drawingml/2006/main" noGrp="1"/>
          </p:cNvSpPr>
          <p:nvPr/>
        </p:nvSpPr>
        <p:spPr>
          <a:xfrm xmlns:a="http://schemas.openxmlformats.org/drawingml/2006/main">
            <a:off x="5781675" y="5114925"/>
            <a:ext cx="4219575" cy="276225"/>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D28D9"/>
                </a:solidFill>
                <a:latin typeface="Calibri"/>
                <a:ea typeface="Calibri"/>
                <a:cs typeface="Calibri"/>
              </a:defRPr>
            </a:pPr>
            <a:r>
              <a:rPr sz="1275" b="0">
                <a:solidFill>
                  <a:srgbClr val="6D28D9"/>
                </a:solidFill>
                <a:latin typeface="Calibri"/>
                <a:ea typeface="Calibri"/>
                <a:cs typeface="Calibri"/>
              </a:rPr>
              <a:t>Attendee / Admin</a:t>
            </a:r>
          </a:p>
        </p:txBody>
      </p:sp>
      <p:sp>
        <p:nvSpPr>
          <p:cNvPr id="54" name="">
            <a:extLst xmlns:a="http://schemas.openxmlformats.org/drawingml/2006/main">
              <a:ext uri="{FF2B5EF4-FFF2-40B4-BE49-F238E27FC236}">
                <a16:creationId xmlns:a16="http://schemas.microsoft.com/office/drawing/2014/main" id="{DC3CAA28-F476-4BEA-9A8F-4B9E9131FEDB}"/>
              </a:ext>
            </a:extLst>
          </p:cNvPr>
          <p:cNvSpPr>
            <a:spLocks xmlns:a="http://schemas.openxmlformats.org/drawingml/2006/main" noGrp="1"/>
          </p:cNvSpPr>
          <p:nvPr/>
        </p:nvSpPr>
        <p:spPr>
          <a:xfrm xmlns:a="http://schemas.openxmlformats.org/drawingml/2006/main">
            <a:off x="5781675" y="5524500"/>
            <a:ext cx="4219575" cy="304800"/>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D28D9"/>
                </a:solidFill>
                <a:latin typeface="Calibri"/>
                <a:ea typeface="Calibri"/>
                <a:cs typeface="Calibri"/>
              </a:defRPr>
            </a:pPr>
            <a:r>
              <a:rPr sz="1275" b="0">
                <a:solidFill>
                  <a:srgbClr val="6D28D9"/>
                </a:solidFill>
                <a:latin typeface="Calibri"/>
                <a:ea typeface="Calibri"/>
                <a:cs typeface="Calibri"/>
              </a:rPr>
              <a:t>React + Vite frontend</a:t>
            </a:r>
          </a:p>
        </p:txBody>
      </p:sp>
      <p:sp>
        <p:nvSpPr>
          <p:cNvPr id="55" name="">
            <a:extLst xmlns:a="http://schemas.openxmlformats.org/drawingml/2006/main">
              <a:ext uri="{FF2B5EF4-FFF2-40B4-BE49-F238E27FC236}">
                <a16:creationId xmlns:a16="http://schemas.microsoft.com/office/drawing/2014/main" id="{F8CD9571-F544-47A3-B0E2-D30B85453477}"/>
              </a:ext>
            </a:extLst>
          </p:cNvPr>
          <p:cNvSpPr>
            <a:spLocks xmlns:a="http://schemas.openxmlformats.org/drawingml/2006/main" noGrp="1"/>
          </p:cNvSpPr>
          <p:nvPr/>
        </p:nvSpPr>
        <p:spPr>
          <a:xfrm xmlns:a="http://schemas.openxmlformats.org/drawingml/2006/main">
            <a:off x="5781675" y="5962650"/>
            <a:ext cx="4219575" cy="476250"/>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D28D9"/>
                </a:solidFill>
                <a:latin typeface="Calibri"/>
                <a:ea typeface="Calibri"/>
                <a:cs typeface="Calibri"/>
              </a:defRPr>
            </a:pPr>
            <a:r>
              <a:rPr sz="1275" b="0">
                <a:solidFill>
                  <a:srgbClr val="6D28D9"/>
                </a:solidFill>
                <a:latin typeface="Calibri"/>
                <a:ea typeface="Calibri"/>
                <a:cs typeface="Calibri"/>
              </a:rPr>
              <a:t>Express REST APIs</a:t>
            </a:r>
          </a:p>
          <a:p xmlns:a="http://schemas.openxmlformats.org/drawingml/2006/main">
            <a:pPr algn="ctr">
              <a:defRPr sz="1275" b="0">
                <a:solidFill>
                  <a:srgbClr val="6D28D9"/>
                </a:solidFill>
                <a:latin typeface="Calibri"/>
                <a:ea typeface="Calibri"/>
                <a:cs typeface="Calibri"/>
              </a:defRPr>
            </a:pPr>
            <a:r>
              <a:rPr sz="1275" b="0">
                <a:solidFill>
                  <a:srgbClr val="6D28D9"/>
                </a:solidFill>
                <a:latin typeface="Calibri"/>
                <a:ea typeface="Calibri"/>
                <a:cs typeface="Calibri"/>
              </a:rPr>
              <a:t>JWT authentication and booking logic</a:t>
            </a:r>
          </a:p>
        </p:txBody>
      </p:sp>
      <p:sp>
        <p:nvSpPr>
          <p:cNvPr id="56" name="">
            <a:extLst xmlns:a="http://schemas.openxmlformats.org/drawingml/2006/main">
              <a:ext uri="{FF2B5EF4-FFF2-40B4-BE49-F238E27FC236}">
                <a16:creationId xmlns:a16="http://schemas.microsoft.com/office/drawing/2014/main" id="{F36336CA-D0C4-41EB-AF8D-EDDC4D8DED5F}"/>
              </a:ext>
            </a:extLst>
          </p:cNvPr>
          <p:cNvSpPr>
            <a:spLocks xmlns:a="http://schemas.openxmlformats.org/drawingml/2006/main" noGrp="1"/>
          </p:cNvSpPr>
          <p:nvPr/>
        </p:nvSpPr>
        <p:spPr>
          <a:xfrm xmlns:a="http://schemas.openxmlformats.org/drawingml/2006/main">
            <a:off x="5781675" y="6572250"/>
            <a:ext cx="1952625" cy="342900"/>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D28D9"/>
                </a:solidFill>
                <a:latin typeface="Calibri"/>
                <a:ea typeface="Calibri"/>
                <a:cs typeface="Calibri"/>
              </a:defRPr>
            </a:pPr>
            <a:r>
              <a:rPr sz="1275" b="0">
                <a:solidFill>
                  <a:srgbClr val="6D28D9"/>
                </a:solidFill>
                <a:latin typeface="Calibri"/>
                <a:ea typeface="Calibri"/>
                <a:cs typeface="Calibri"/>
              </a:rPr>
              <a:t>MySQL database</a:t>
            </a:r>
          </a:p>
        </p:txBody>
      </p:sp>
      <p:sp>
        <p:nvSpPr>
          <p:cNvPr id="57" name="">
            <a:extLst xmlns:a="http://schemas.openxmlformats.org/drawingml/2006/main">
              <a:ext uri="{FF2B5EF4-FFF2-40B4-BE49-F238E27FC236}">
                <a16:creationId xmlns:a16="http://schemas.microsoft.com/office/drawing/2014/main" id="{6CC08EF7-4C9F-4F33-9106-207E187E7E5D}"/>
              </a:ext>
            </a:extLst>
          </p:cNvPr>
          <p:cNvSpPr>
            <a:spLocks xmlns:a="http://schemas.openxmlformats.org/drawingml/2006/main" noGrp="1"/>
          </p:cNvSpPr>
          <p:nvPr/>
        </p:nvSpPr>
        <p:spPr>
          <a:xfrm xmlns:a="http://schemas.openxmlformats.org/drawingml/2006/main">
            <a:off x="7934325" y="6572250"/>
            <a:ext cx="2066925" cy="342900"/>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D28D9"/>
                </a:solidFill>
                <a:latin typeface="Calibri"/>
                <a:ea typeface="Calibri"/>
                <a:cs typeface="Calibri"/>
              </a:defRPr>
            </a:pPr>
            <a:r>
              <a:rPr sz="1275" b="0">
                <a:solidFill>
                  <a:srgbClr val="6D28D9"/>
                </a:solidFill>
                <a:latin typeface="Calibri"/>
                <a:ea typeface="Calibri"/>
                <a:cs typeface="Calibri"/>
              </a:rPr>
              <a:t>Razorpay test mode</a:t>
            </a:r>
          </a:p>
        </p:txBody>
      </p:sp>
      <p:cxnSp>
        <p:nvCxnSpPr>
          <p:cNvPr id="131" name=""/>
          <p:cNvCxnSpPr>
            <a:stCxn xmlns:a="http://schemas.openxmlformats.org/drawingml/2006/main" id="53" idx="2"/>
            <a:endCxn xmlns:a="http://schemas.openxmlformats.org/drawingml/2006/main" id="54" idx="0"/>
          </p:cNvCxnSpPr>
          <p:nvPr/>
        </p:nvCxnSpPr>
        <p:spPr>
          <a:xfrm xmlns:a="http://schemas.openxmlformats.org/drawingml/2006/main">
            <a:off x="7891463" y="5391150"/>
            <a:ext cx="0" cy="133350"/>
          </a:xfrm>
          <a:prstGeom xmlns:a="http://schemas.openxmlformats.org/drawingml/2006/main" prst="straightConnector1">
            <a:avLst/>
          </a:prstGeom>
          <a:ln xmlns:a="http://schemas.openxmlformats.org/drawingml/2006/main" w="13335">
            <a:solidFill>
              <a:srgbClr val="6D28D9"/>
            </a:solidFill>
            <a:tailEnd type="triangle" w="sm" len="sm"/>
          </a:ln>
        </p:spPr>
      </p:cxnSp>
      <p:cxnSp>
        <p:nvCxnSpPr>
          <p:cNvPr id="132" name=""/>
          <p:cNvCxnSpPr>
            <a:stCxn xmlns:a="http://schemas.openxmlformats.org/drawingml/2006/main" id="54" idx="2"/>
            <a:endCxn xmlns:a="http://schemas.openxmlformats.org/drawingml/2006/main" id="55" idx="0"/>
          </p:cNvCxnSpPr>
          <p:nvPr/>
        </p:nvCxnSpPr>
        <p:spPr>
          <a:xfrm xmlns:a="http://schemas.openxmlformats.org/drawingml/2006/main">
            <a:off x="7891463" y="5829300"/>
            <a:ext cx="0" cy="133350"/>
          </a:xfrm>
          <a:prstGeom xmlns:a="http://schemas.openxmlformats.org/drawingml/2006/main" prst="straightConnector1">
            <a:avLst/>
          </a:prstGeom>
          <a:ln xmlns:a="http://schemas.openxmlformats.org/drawingml/2006/main" w="13335">
            <a:solidFill>
              <a:srgbClr val="6D28D9"/>
            </a:solidFill>
            <a:tailEnd type="triangle" w="sm" len="sm"/>
          </a:ln>
        </p:spPr>
      </p:cxnSp>
      <p:cxnSp>
        <p:nvCxnSpPr>
          <p:cNvPr id="133" name=""/>
          <p:cNvCxnSpPr>
            <a:stCxn xmlns:a="http://schemas.openxmlformats.org/drawingml/2006/main" id="55" idx="2"/>
            <a:endCxn xmlns:a="http://schemas.openxmlformats.org/drawingml/2006/main" id="56" idx="0"/>
          </p:cNvCxnSpPr>
          <p:nvPr/>
        </p:nvCxnSpPr>
        <p:spPr>
          <a:xfrm xmlns:a="http://schemas.openxmlformats.org/drawingml/2006/main" flipH="1">
            <a:off x="6757988" y="6438900"/>
            <a:ext cx="1133475" cy="133350"/>
          </a:xfrm>
          <a:prstGeom xmlns:a="http://schemas.openxmlformats.org/drawingml/2006/main" prst="straightConnector1">
            <a:avLst/>
          </a:prstGeom>
          <a:ln xmlns:a="http://schemas.openxmlformats.org/drawingml/2006/main" w="13335">
            <a:solidFill>
              <a:srgbClr val="6D28D9"/>
            </a:solidFill>
            <a:tailEnd type="triangle" w="sm" len="sm"/>
          </a:ln>
        </p:spPr>
      </p:cxnSp>
      <p:cxnSp>
        <p:nvCxnSpPr>
          <p:cNvPr id="134" name=""/>
          <p:cNvCxnSpPr>
            <a:stCxn xmlns:a="http://schemas.openxmlformats.org/drawingml/2006/main" id="55" idx="2"/>
            <a:endCxn xmlns:a="http://schemas.openxmlformats.org/drawingml/2006/main" id="57" idx="0"/>
          </p:cNvCxnSpPr>
          <p:nvPr/>
        </p:nvCxnSpPr>
        <p:spPr>
          <a:xfrm xmlns:a="http://schemas.openxmlformats.org/drawingml/2006/main">
            <a:off x="7891463" y="6438900"/>
            <a:ext cx="1076325" cy="133350"/>
          </a:xfrm>
          <a:prstGeom xmlns:a="http://schemas.openxmlformats.org/drawingml/2006/main" prst="straightConnector1">
            <a:avLst/>
          </a:prstGeom>
          <a:ln xmlns:a="http://schemas.openxmlformats.org/drawingml/2006/main" w="13335">
            <a:solidFill>
              <a:srgbClr val="6D28D9"/>
            </a:solidFill>
            <a:tailEnd type="triangle" w="sm" len="sm"/>
          </a:ln>
        </p:spPr>
      </p:cxnSp>
      <p:sp>
        <p:nvSpPr>
          <p:cNvPr id="62" name="">
            <a:extLst xmlns:a="http://schemas.openxmlformats.org/drawingml/2006/main">
              <a:ext uri="{FF2B5EF4-FFF2-40B4-BE49-F238E27FC236}">
                <a16:creationId xmlns:a16="http://schemas.microsoft.com/office/drawing/2014/main" id="{64775241-CC80-4003-9CDA-FE37D5B126A4}"/>
              </a:ext>
            </a:extLst>
          </p:cNvPr>
          <p:cNvSpPr>
            <a:spLocks xmlns:a="http://schemas.openxmlformats.org/drawingml/2006/main" noGrp="1"/>
          </p:cNvSpPr>
          <p:nvPr/>
        </p:nvSpPr>
        <p:spPr>
          <a:xfrm xmlns:a="http://schemas.openxmlformats.org/drawingml/2006/main">
            <a:off x="5753100" y="7962900"/>
            <a:ext cx="1257300" cy="409575"/>
          </a:xfrm>
          <a:prstGeom xmlns:a="http://schemas.openxmlformats.org/drawingml/2006/main" prst="rect">
            <a:avLst/>
          </a:prstGeom>
          <a:solidFill xmlns:a="http://schemas.openxmlformats.org/drawingml/2006/main">
            <a:srgbClr val="FFFFFF"/>
          </a:solidFill>
          <a:ln xmlns:a="http://schemas.openxmlformats.org/drawingml/2006/main" w="11430">
            <a:solidFill>
              <a:srgbClr val="C2410C"/>
            </a:solidFill>
          </a:ln>
        </p:spPr>
        <p:txBody>
          <a:bodyPr xmlns:a="http://schemas.openxmlformats.org/drawingml/2006/main" anchor="ctr">
            <a:noAutofit/>
          </a:bodyPr>
          <a:lstStyle xmlns:a="http://schemas.openxmlformats.org/drawingml/2006/main"/>
          <a:p xmlns:a="http://schemas.openxmlformats.org/drawingml/2006/main">
            <a:pPr algn="ctr">
              <a:defRPr sz="1125" b="0">
                <a:solidFill>
                  <a:srgbClr val="C2410C"/>
                </a:solidFill>
                <a:latin typeface="Calibri"/>
                <a:ea typeface="Calibri"/>
                <a:cs typeface="Calibri"/>
              </a:defRPr>
            </a:pPr>
            <a:r>
              <a:rPr sz="1125" b="0">
                <a:solidFill>
                  <a:srgbClr val="C2410C"/>
                </a:solidFill>
                <a:latin typeface="Calibri"/>
                <a:ea typeface="Calibri"/>
                <a:cs typeface="Calibri"/>
              </a:rPr>
              <a:t>USERS</a:t>
            </a:r>
          </a:p>
          <a:p xmlns:a="http://schemas.openxmlformats.org/drawingml/2006/main">
            <a:pPr algn="ctr">
              <a:defRPr sz="1125" b="0">
                <a:solidFill>
                  <a:srgbClr val="C2410C"/>
                </a:solidFill>
                <a:latin typeface="Calibri"/>
                <a:ea typeface="Calibri"/>
                <a:cs typeface="Calibri"/>
              </a:defRPr>
            </a:pPr>
            <a:r>
              <a:rPr sz="1125" b="0">
                <a:solidFill>
                  <a:srgbClr val="C2410C"/>
                </a:solidFill>
                <a:latin typeface="Calibri"/>
                <a:ea typeface="Calibri"/>
                <a:cs typeface="Calibri"/>
              </a:rPr>
              <a:t>PK id</a:t>
            </a:r>
          </a:p>
        </p:txBody>
      </p:sp>
      <p:sp>
        <p:nvSpPr>
          <p:cNvPr id="63" name="">
            <a:extLst xmlns:a="http://schemas.openxmlformats.org/drawingml/2006/main">
              <a:ext uri="{FF2B5EF4-FFF2-40B4-BE49-F238E27FC236}">
                <a16:creationId xmlns:a16="http://schemas.microsoft.com/office/drawing/2014/main" id="{9A4203F8-EC3D-4176-969A-40B1848176BB}"/>
              </a:ext>
            </a:extLst>
          </p:cNvPr>
          <p:cNvSpPr>
            <a:spLocks xmlns:a="http://schemas.openxmlformats.org/drawingml/2006/main" noGrp="1"/>
          </p:cNvSpPr>
          <p:nvPr/>
        </p:nvSpPr>
        <p:spPr>
          <a:xfrm xmlns:a="http://schemas.openxmlformats.org/drawingml/2006/main">
            <a:off x="8648700" y="7962900"/>
            <a:ext cx="1362075" cy="409575"/>
          </a:xfrm>
          <a:prstGeom xmlns:a="http://schemas.openxmlformats.org/drawingml/2006/main" prst="rect">
            <a:avLst/>
          </a:prstGeom>
          <a:solidFill xmlns:a="http://schemas.openxmlformats.org/drawingml/2006/main">
            <a:srgbClr val="FFFFFF"/>
          </a:solidFill>
          <a:ln xmlns:a="http://schemas.openxmlformats.org/drawingml/2006/main" w="11430">
            <a:solidFill>
              <a:srgbClr val="C2410C"/>
            </a:solidFill>
          </a:ln>
        </p:spPr>
        <p:txBody>
          <a:bodyPr xmlns:a="http://schemas.openxmlformats.org/drawingml/2006/main" anchor="ctr">
            <a:noAutofit/>
          </a:bodyPr>
          <a:lstStyle xmlns:a="http://schemas.openxmlformats.org/drawingml/2006/main"/>
          <a:p xmlns:a="http://schemas.openxmlformats.org/drawingml/2006/main">
            <a:pPr algn="ctr">
              <a:defRPr sz="1125" b="0">
                <a:solidFill>
                  <a:srgbClr val="C2410C"/>
                </a:solidFill>
                <a:latin typeface="Calibri"/>
                <a:ea typeface="Calibri"/>
                <a:cs typeface="Calibri"/>
              </a:defRPr>
            </a:pPr>
            <a:r>
              <a:rPr sz="1125" b="0">
                <a:solidFill>
                  <a:srgbClr val="C2410C"/>
                </a:solidFill>
                <a:latin typeface="Calibri"/>
                <a:ea typeface="Calibri"/>
                <a:cs typeface="Calibri"/>
              </a:rPr>
              <a:t>EVENTS</a:t>
            </a:r>
          </a:p>
          <a:p xmlns:a="http://schemas.openxmlformats.org/drawingml/2006/main">
            <a:pPr algn="ctr">
              <a:defRPr sz="1125" b="0">
                <a:solidFill>
                  <a:srgbClr val="C2410C"/>
                </a:solidFill>
                <a:latin typeface="Calibri"/>
                <a:ea typeface="Calibri"/>
                <a:cs typeface="Calibri"/>
              </a:defRPr>
            </a:pPr>
            <a:r>
              <a:rPr sz="1125" b="0">
                <a:solidFill>
                  <a:srgbClr val="C2410C"/>
                </a:solidFill>
                <a:latin typeface="Calibri"/>
                <a:ea typeface="Calibri"/>
                <a:cs typeface="Calibri"/>
              </a:rPr>
              <a:t>PK id</a:t>
            </a:r>
          </a:p>
        </p:txBody>
      </p:sp>
      <p:sp>
        <p:nvSpPr>
          <p:cNvPr id="64" name="">
            <a:extLst xmlns:a="http://schemas.openxmlformats.org/drawingml/2006/main">
              <a:ext uri="{FF2B5EF4-FFF2-40B4-BE49-F238E27FC236}">
                <a16:creationId xmlns:a16="http://schemas.microsoft.com/office/drawing/2014/main" id="{30522826-5513-4F25-838B-C5A6D983B4A4}"/>
              </a:ext>
            </a:extLst>
          </p:cNvPr>
          <p:cNvSpPr>
            <a:spLocks xmlns:a="http://schemas.openxmlformats.org/drawingml/2006/main" noGrp="1"/>
          </p:cNvSpPr>
          <p:nvPr/>
        </p:nvSpPr>
        <p:spPr>
          <a:xfrm xmlns:a="http://schemas.openxmlformats.org/drawingml/2006/main">
            <a:off x="7143750" y="8562975"/>
            <a:ext cx="1771650" cy="419100"/>
          </a:xfrm>
          <a:prstGeom xmlns:a="http://schemas.openxmlformats.org/drawingml/2006/main" prst="rect">
            <a:avLst/>
          </a:prstGeom>
          <a:solidFill xmlns:a="http://schemas.openxmlformats.org/drawingml/2006/main">
            <a:srgbClr val="FFFFFF"/>
          </a:solidFill>
          <a:ln xmlns:a="http://schemas.openxmlformats.org/drawingml/2006/main" w="11430">
            <a:solidFill>
              <a:srgbClr val="C2410C"/>
            </a:solid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C2410C"/>
                </a:solidFill>
                <a:latin typeface="Calibri"/>
                <a:ea typeface="Calibri"/>
                <a:cs typeface="Calibri"/>
              </a:defRPr>
            </a:pPr>
            <a:r>
              <a:rPr sz="900" b="0">
                <a:solidFill>
                  <a:srgbClr val="C2410C"/>
                </a:solidFill>
                <a:latin typeface="Calibri"/>
                <a:ea typeface="Calibri"/>
                <a:cs typeface="Calibri"/>
              </a:rPr>
              <a:t>BOOKINGS</a:t>
            </a:r>
          </a:p>
          <a:p xmlns:a="http://schemas.openxmlformats.org/drawingml/2006/main">
            <a:pPr algn="ctr">
              <a:defRPr sz="900" b="0">
                <a:solidFill>
                  <a:srgbClr val="C2410C"/>
                </a:solidFill>
                <a:latin typeface="Calibri"/>
                <a:ea typeface="Calibri"/>
                <a:cs typeface="Calibri"/>
              </a:defRPr>
            </a:pPr>
            <a:r>
              <a:rPr sz="900" b="0">
                <a:solidFill>
                  <a:srgbClr val="C2410C"/>
                </a:solidFill>
                <a:latin typeface="Calibri"/>
                <a:ea typeface="Calibri"/>
                <a:cs typeface="Calibri"/>
              </a:rPr>
              <a:t>PK id, FK user_id, event_id</a:t>
            </a:r>
          </a:p>
        </p:txBody>
      </p:sp>
      <p:sp>
        <p:nvSpPr>
          <p:cNvPr id="65" name="">
            <a:extLst xmlns:a="http://schemas.openxmlformats.org/drawingml/2006/main">
              <a:ext uri="{FF2B5EF4-FFF2-40B4-BE49-F238E27FC236}">
                <a16:creationId xmlns:a16="http://schemas.microsoft.com/office/drawing/2014/main" id="{0D7681C5-968C-4126-8F14-29FB802E8118}"/>
              </a:ext>
            </a:extLst>
          </p:cNvPr>
          <p:cNvSpPr>
            <a:spLocks xmlns:a="http://schemas.openxmlformats.org/drawingml/2006/main" noGrp="1"/>
          </p:cNvSpPr>
          <p:nvPr/>
        </p:nvSpPr>
        <p:spPr>
          <a:xfrm xmlns:a="http://schemas.openxmlformats.org/drawingml/2006/main">
            <a:off x="5743575" y="9220200"/>
            <a:ext cx="1971675" cy="409575"/>
          </a:xfrm>
          <a:prstGeom xmlns:a="http://schemas.openxmlformats.org/drawingml/2006/main" prst="rect">
            <a:avLst/>
          </a:prstGeom>
          <a:solidFill xmlns:a="http://schemas.openxmlformats.org/drawingml/2006/main">
            <a:srgbClr val="FFFFFF"/>
          </a:solidFill>
          <a:ln xmlns:a="http://schemas.openxmlformats.org/drawingml/2006/main" w="11430">
            <a:solidFill>
              <a:srgbClr val="C2410C"/>
            </a:solid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C2410C"/>
                </a:solidFill>
                <a:latin typeface="Calibri"/>
                <a:ea typeface="Calibri"/>
                <a:cs typeface="Calibri"/>
              </a:defRPr>
            </a:pPr>
            <a:r>
              <a:rPr sz="1050" b="0">
                <a:solidFill>
                  <a:srgbClr val="C2410C"/>
                </a:solidFill>
                <a:latin typeface="Calibri"/>
                <a:ea typeface="Calibri"/>
                <a:cs typeface="Calibri"/>
              </a:rPr>
              <a:t>TICKETS</a:t>
            </a:r>
          </a:p>
          <a:p xmlns:a="http://schemas.openxmlformats.org/drawingml/2006/main">
            <a:pPr algn="ctr">
              <a:defRPr sz="1050" b="0">
                <a:solidFill>
                  <a:srgbClr val="C2410C"/>
                </a:solidFill>
                <a:latin typeface="Calibri"/>
                <a:ea typeface="Calibri"/>
                <a:cs typeface="Calibri"/>
              </a:defRPr>
            </a:pPr>
            <a:r>
              <a:rPr sz="1050" b="0">
                <a:solidFill>
                  <a:srgbClr val="C2410C"/>
                </a:solidFill>
                <a:latin typeface="Calibri"/>
                <a:ea typeface="Calibri"/>
                <a:cs typeface="Calibri"/>
              </a:rPr>
              <a:t>PK id, FK booking_id</a:t>
            </a:r>
          </a:p>
        </p:txBody>
      </p:sp>
      <p:sp>
        <p:nvSpPr>
          <p:cNvPr id="66" name="">
            <a:extLst xmlns:a="http://schemas.openxmlformats.org/drawingml/2006/main">
              <a:ext uri="{FF2B5EF4-FFF2-40B4-BE49-F238E27FC236}">
                <a16:creationId xmlns:a16="http://schemas.microsoft.com/office/drawing/2014/main" id="{CB79EE92-E45F-421E-830B-F71EC0FA5855}"/>
              </a:ext>
            </a:extLst>
          </p:cNvPr>
          <p:cNvSpPr>
            <a:spLocks xmlns:a="http://schemas.openxmlformats.org/drawingml/2006/main" noGrp="1"/>
          </p:cNvSpPr>
          <p:nvPr/>
        </p:nvSpPr>
        <p:spPr>
          <a:xfrm xmlns:a="http://schemas.openxmlformats.org/drawingml/2006/main">
            <a:off x="7991475" y="9220200"/>
            <a:ext cx="2019300" cy="409575"/>
          </a:xfrm>
          <a:prstGeom xmlns:a="http://schemas.openxmlformats.org/drawingml/2006/main" prst="rect">
            <a:avLst/>
          </a:prstGeom>
          <a:solidFill xmlns:a="http://schemas.openxmlformats.org/drawingml/2006/main">
            <a:srgbClr val="FFFFFF"/>
          </a:solidFill>
          <a:ln xmlns:a="http://schemas.openxmlformats.org/drawingml/2006/main" w="11430">
            <a:solidFill>
              <a:srgbClr val="C2410C"/>
            </a:solid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C2410C"/>
                </a:solidFill>
                <a:latin typeface="Calibri"/>
                <a:ea typeface="Calibri"/>
                <a:cs typeface="Calibri"/>
              </a:defRPr>
            </a:pPr>
            <a:r>
              <a:rPr sz="1050" b="0">
                <a:solidFill>
                  <a:srgbClr val="C2410C"/>
                </a:solidFill>
                <a:latin typeface="Calibri"/>
                <a:ea typeface="Calibri"/>
                <a:cs typeface="Calibri"/>
              </a:rPr>
              <a:t>PAYMENTS</a:t>
            </a:r>
          </a:p>
          <a:p xmlns:a="http://schemas.openxmlformats.org/drawingml/2006/main">
            <a:pPr algn="ctr">
              <a:defRPr sz="1050" b="0">
                <a:solidFill>
                  <a:srgbClr val="C2410C"/>
                </a:solidFill>
                <a:latin typeface="Calibri"/>
                <a:ea typeface="Calibri"/>
                <a:cs typeface="Calibri"/>
              </a:defRPr>
            </a:pPr>
            <a:r>
              <a:rPr sz="1050" b="0">
                <a:solidFill>
                  <a:srgbClr val="C2410C"/>
                </a:solidFill>
                <a:latin typeface="Calibri"/>
                <a:ea typeface="Calibri"/>
                <a:cs typeface="Calibri"/>
              </a:rPr>
              <a:t>PK id, FK booking_id</a:t>
            </a:r>
          </a:p>
        </p:txBody>
      </p:sp>
      <p:cxnSp>
        <p:nvCxnSpPr>
          <p:cNvPr id="140" name=""/>
          <p:cNvCxnSpPr>
            <a:stCxn xmlns:a="http://schemas.openxmlformats.org/drawingml/2006/main" id="62" idx="2"/>
            <a:endCxn xmlns:a="http://schemas.openxmlformats.org/drawingml/2006/main" id="64" idx="1"/>
          </p:cNvCxnSpPr>
          <p:nvPr/>
        </p:nvCxnSpPr>
        <p:spPr>
          <a:xfrm xmlns:a="http://schemas.openxmlformats.org/drawingml/2006/main">
            <a:off x="6381750" y="8372475"/>
            <a:ext cx="762000" cy="400050"/>
          </a:xfrm>
          <a:prstGeom xmlns:a="http://schemas.openxmlformats.org/drawingml/2006/main" prst="straightConnector1">
            <a:avLst/>
          </a:prstGeom>
          <a:ln xmlns:a="http://schemas.openxmlformats.org/drawingml/2006/main" w="13335">
            <a:solidFill>
              <a:srgbClr val="C2410C"/>
            </a:solidFill>
            <a:tailEnd type="triangle" w="sm" len="sm"/>
          </a:ln>
        </p:spPr>
      </p:cxnSp>
      <p:cxnSp>
        <p:nvCxnSpPr>
          <p:cNvPr id="141" name=""/>
          <p:cNvCxnSpPr>
            <a:stCxn xmlns:a="http://schemas.openxmlformats.org/drawingml/2006/main" id="63" idx="2"/>
            <a:endCxn xmlns:a="http://schemas.openxmlformats.org/drawingml/2006/main" id="64" idx="3"/>
          </p:cNvCxnSpPr>
          <p:nvPr/>
        </p:nvCxnSpPr>
        <p:spPr>
          <a:xfrm xmlns:a="http://schemas.openxmlformats.org/drawingml/2006/main" flipH="1">
            <a:off x="8915400" y="8372475"/>
            <a:ext cx="414338" cy="400050"/>
          </a:xfrm>
          <a:prstGeom xmlns:a="http://schemas.openxmlformats.org/drawingml/2006/main" prst="straightConnector1">
            <a:avLst/>
          </a:prstGeom>
          <a:ln xmlns:a="http://schemas.openxmlformats.org/drawingml/2006/main" w="13335">
            <a:solidFill>
              <a:srgbClr val="C2410C"/>
            </a:solidFill>
            <a:tailEnd type="triangle" w="sm" len="sm"/>
          </a:ln>
        </p:spPr>
      </p:cxnSp>
      <p:cxnSp>
        <p:nvCxnSpPr>
          <p:cNvPr id="142" name=""/>
          <p:cNvCxnSpPr>
            <a:stCxn xmlns:a="http://schemas.openxmlformats.org/drawingml/2006/main" id="64" idx="2"/>
            <a:endCxn xmlns:a="http://schemas.openxmlformats.org/drawingml/2006/main" id="65" idx="0"/>
          </p:cNvCxnSpPr>
          <p:nvPr/>
        </p:nvCxnSpPr>
        <p:spPr>
          <a:xfrm xmlns:a="http://schemas.openxmlformats.org/drawingml/2006/main" flipH="1">
            <a:off x="6729413" y="8982075"/>
            <a:ext cx="1300163" cy="238125"/>
          </a:xfrm>
          <a:prstGeom xmlns:a="http://schemas.openxmlformats.org/drawingml/2006/main" prst="straightConnector1">
            <a:avLst/>
          </a:prstGeom>
          <a:ln xmlns:a="http://schemas.openxmlformats.org/drawingml/2006/main" w="13335">
            <a:solidFill>
              <a:srgbClr val="C2410C"/>
            </a:solidFill>
            <a:tailEnd type="triangle" w="sm" len="sm"/>
          </a:ln>
        </p:spPr>
      </p:cxnSp>
      <p:cxnSp>
        <p:nvCxnSpPr>
          <p:cNvPr id="143" name=""/>
          <p:cNvCxnSpPr>
            <a:stCxn xmlns:a="http://schemas.openxmlformats.org/drawingml/2006/main" id="64" idx="2"/>
            <a:endCxn xmlns:a="http://schemas.openxmlformats.org/drawingml/2006/main" id="66" idx="0"/>
          </p:cNvCxnSpPr>
          <p:nvPr/>
        </p:nvCxnSpPr>
        <p:spPr>
          <a:xfrm xmlns:a="http://schemas.openxmlformats.org/drawingml/2006/main">
            <a:off x="8029575" y="8982075"/>
            <a:ext cx="971550" cy="238125"/>
          </a:xfrm>
          <a:prstGeom xmlns:a="http://schemas.openxmlformats.org/drawingml/2006/main" prst="straightConnector1">
            <a:avLst/>
          </a:prstGeom>
          <a:ln xmlns:a="http://schemas.openxmlformats.org/drawingml/2006/main" w="13335">
            <a:solidFill>
              <a:srgbClr val="C2410C"/>
            </a:solidFill>
            <a:tailEnd type="triangle" w="sm" len="sm"/>
          </a:ln>
        </p:spPr>
      </p:cxnSp>
      <p:sp>
        <p:nvSpPr>
          <p:cNvPr id="71" name="">
            <a:extLst xmlns:a="http://schemas.openxmlformats.org/drawingml/2006/main">
              <a:ext uri="{FF2B5EF4-FFF2-40B4-BE49-F238E27FC236}">
                <a16:creationId xmlns:a16="http://schemas.microsoft.com/office/drawing/2014/main" id="{078E0B4D-0F64-4CF7-9B87-37D51BA51291}"/>
              </a:ext>
            </a:extLst>
          </p:cNvPr>
          <p:cNvSpPr>
            <a:spLocks xmlns:a="http://schemas.openxmlformats.org/drawingml/2006/main" noGrp="1"/>
          </p:cNvSpPr>
          <p:nvPr/>
        </p:nvSpPr>
        <p:spPr>
          <a:xfrm xmlns:a="http://schemas.openxmlformats.org/drawingml/2006/main">
            <a:off x="6496050" y="84201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C2410C"/>
                </a:solidFill>
                <a:latin typeface="Calibri"/>
                <a:ea typeface="Calibri"/>
                <a:cs typeface="Calibri"/>
              </a:defRPr>
            </a:pPr>
            <a:r>
              <a:rPr sz="900" b="0">
                <a:solidFill>
                  <a:srgbClr val="C2410C"/>
                </a:solidFill>
                <a:latin typeface="Calibri"/>
                <a:ea typeface="Calibri"/>
                <a:cs typeface="Calibri"/>
              </a:rPr>
              <a:t>1 : M</a:t>
            </a:r>
          </a:p>
        </p:txBody>
      </p:sp>
      <p:sp>
        <p:nvSpPr>
          <p:cNvPr id="72" name="">
            <a:extLst xmlns:a="http://schemas.openxmlformats.org/drawingml/2006/main">
              <a:ext uri="{FF2B5EF4-FFF2-40B4-BE49-F238E27FC236}">
                <a16:creationId xmlns:a16="http://schemas.microsoft.com/office/drawing/2014/main" id="{6D1BCBF1-C5DB-49DC-9271-1BFCD86CABB9}"/>
              </a:ext>
            </a:extLst>
          </p:cNvPr>
          <p:cNvSpPr>
            <a:spLocks xmlns:a="http://schemas.openxmlformats.org/drawingml/2006/main" noGrp="1"/>
          </p:cNvSpPr>
          <p:nvPr/>
        </p:nvSpPr>
        <p:spPr>
          <a:xfrm xmlns:a="http://schemas.openxmlformats.org/drawingml/2006/main">
            <a:off x="9191625" y="84201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C2410C"/>
                </a:solidFill>
                <a:latin typeface="Calibri"/>
                <a:ea typeface="Calibri"/>
                <a:cs typeface="Calibri"/>
              </a:defRPr>
            </a:pPr>
            <a:r>
              <a:rPr sz="900" b="0">
                <a:solidFill>
                  <a:srgbClr val="C2410C"/>
                </a:solidFill>
                <a:latin typeface="Calibri"/>
                <a:ea typeface="Calibri"/>
                <a:cs typeface="Calibri"/>
              </a:rPr>
              <a:t>1 : M</a:t>
            </a:r>
          </a:p>
        </p:txBody>
      </p:sp>
      <p:sp>
        <p:nvSpPr>
          <p:cNvPr id="73" name="">
            <a:extLst xmlns:a="http://schemas.openxmlformats.org/drawingml/2006/main">
              <a:ext uri="{FF2B5EF4-FFF2-40B4-BE49-F238E27FC236}">
                <a16:creationId xmlns:a16="http://schemas.microsoft.com/office/drawing/2014/main" id="{37817253-6D1E-4822-9B08-0690A7A0046E}"/>
              </a:ext>
            </a:extLst>
          </p:cNvPr>
          <p:cNvSpPr>
            <a:spLocks xmlns:a="http://schemas.openxmlformats.org/drawingml/2006/main" noGrp="1"/>
          </p:cNvSpPr>
          <p:nvPr/>
        </p:nvSpPr>
        <p:spPr>
          <a:xfrm xmlns:a="http://schemas.openxmlformats.org/drawingml/2006/main">
            <a:off x="6229350" y="8982075"/>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C2410C"/>
                </a:solidFill>
                <a:latin typeface="Calibri"/>
                <a:ea typeface="Calibri"/>
                <a:cs typeface="Calibri"/>
              </a:defRPr>
            </a:pPr>
            <a:r>
              <a:rPr sz="900" b="0">
                <a:solidFill>
                  <a:srgbClr val="C2410C"/>
                </a:solidFill>
                <a:latin typeface="Calibri"/>
                <a:ea typeface="Calibri"/>
                <a:cs typeface="Calibri"/>
              </a:rPr>
              <a:t>1 : M</a:t>
            </a:r>
          </a:p>
        </p:txBody>
      </p:sp>
      <p:sp>
        <p:nvSpPr>
          <p:cNvPr id="74" name="">
            <a:extLst xmlns:a="http://schemas.openxmlformats.org/drawingml/2006/main">
              <a:ext uri="{FF2B5EF4-FFF2-40B4-BE49-F238E27FC236}">
                <a16:creationId xmlns:a16="http://schemas.microsoft.com/office/drawing/2014/main" id="{45CBFB90-3642-4907-AFF5-6972F56974DD}"/>
              </a:ext>
            </a:extLst>
          </p:cNvPr>
          <p:cNvSpPr>
            <a:spLocks xmlns:a="http://schemas.openxmlformats.org/drawingml/2006/main" noGrp="1"/>
          </p:cNvSpPr>
          <p:nvPr/>
        </p:nvSpPr>
        <p:spPr>
          <a:xfrm xmlns:a="http://schemas.openxmlformats.org/drawingml/2006/main">
            <a:off x="9334500" y="8982075"/>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C2410C"/>
                </a:solidFill>
                <a:latin typeface="Calibri"/>
                <a:ea typeface="Calibri"/>
                <a:cs typeface="Calibri"/>
              </a:defRPr>
            </a:pPr>
            <a:r>
              <a:rPr sz="900" b="0">
                <a:solidFill>
                  <a:srgbClr val="C2410C"/>
                </a:solidFill>
                <a:latin typeface="Calibri"/>
                <a:ea typeface="Calibri"/>
                <a:cs typeface="Calibri"/>
              </a:rPr>
              <a:t>1 : 1</a:t>
            </a:r>
          </a:p>
        </p:txBody>
      </p:sp>
      <p:sp>
        <p:nvSpPr>
          <p:cNvPr id="75" name="">
            <a:extLst xmlns:a="http://schemas.openxmlformats.org/drawingml/2006/main">
              <a:ext uri="{FF2B5EF4-FFF2-40B4-BE49-F238E27FC236}">
                <a16:creationId xmlns:a16="http://schemas.microsoft.com/office/drawing/2014/main" id="{92BA9385-57D4-4614-8D62-9F44CEA1C862}"/>
              </a:ext>
            </a:extLst>
          </p:cNvPr>
          <p:cNvSpPr>
            <a:spLocks xmlns:a="http://schemas.openxmlformats.org/drawingml/2006/main" noGrp="1"/>
          </p:cNvSpPr>
          <p:nvPr/>
        </p:nvSpPr>
        <p:spPr>
          <a:xfrm xmlns:a="http://schemas.openxmlformats.org/drawingml/2006/main">
            <a:off x="5695950" y="9639300"/>
            <a:ext cx="433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50" b="0">
                <a:solidFill>
                  <a:srgbClr val="C2410C"/>
                </a:solidFill>
                <a:latin typeface="Calibri"/>
                <a:ea typeface="Calibri"/>
                <a:cs typeface="Calibri"/>
              </a:defRPr>
            </a:pPr>
            <a:r>
              <a:rPr sz="750" b="0">
                <a:solidFill>
                  <a:srgbClr val="C2410C"/>
                </a:solidFill>
                <a:latin typeface="Calibri"/>
                <a:ea typeface="Calibri"/>
                <a:cs typeface="Calibri"/>
              </a:rPr>
              <a:t>Core entities shown. Also: categories, reservations, refunds, feedback and notifications.</a:t>
            </a:r>
          </a:p>
        </p:txBody>
      </p:sp>
    </p:spTree>
    <p:extLst>
      <p:ext uri="{BB962C8B-B14F-4D97-AF65-F5344CB8AC3E}">
        <p14:creationId xmlns:p14="http://schemas.microsoft.com/office/powerpoint/2010/main" val="133781739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2026-10-02T09:50:11.8430000Z</dcterms:created>
  <dcterms:modified xsi:type="dcterms:W3CDTF">2026-10-02T09:50:11.8430000Z</dcterms:modified>
</coreProperties>
</file>