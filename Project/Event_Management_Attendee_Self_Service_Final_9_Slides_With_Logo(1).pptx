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0" y="-274320"/>
            <a:ext cx="4297680" cy="7315200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23960" y="320040"/>
            <a:ext cx="3154680" cy="6217920"/>
          </a:xfrm>
          <a:prstGeom prst="roundRect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0" y="777240"/>
            <a:ext cx="2240280" cy="5303520"/>
          </a:xfrm>
          <a:prstGeom prst="roundRect">
            <a:avLst/>
          </a:prstGeom>
          <a:solidFill>
            <a:srgbClr val="0A0C1C"/>
          </a:solidFill>
          <a:ln>
            <a:solidFill>
              <a:srgbClr val="0A0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02952" y="1371600"/>
            <a:ext cx="1005840" cy="100584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2952" y="137160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2788920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36D3D6"/>
                </a:solidFill>
                <a:latin typeface="Aptos"/>
              </a:rPr>
              <a:t>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8048" y="32461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AB0CD"/>
                </a:solidFill>
                <a:latin typeface="Aptos"/>
              </a:rPr>
              <a:t>DIGITAL TICKET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D6"/>
                </a:solidFill>
                <a:latin typeface="Aptos"/>
              </a:rPr>
              <a:t>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43000"/>
            <a:ext cx="6949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5F7FF"/>
                </a:solidFill>
                <a:latin typeface="Aptos"/>
              </a:rPr>
              <a:t>Event Management
Mobile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5176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7E57FF"/>
                </a:solidFill>
                <a:latin typeface="Aptos"/>
              </a:rPr>
              <a:t>for Attendee Self-Service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AB0CD"/>
                </a:solidFill>
                <a:latin typeface="Aptos"/>
              </a:rPr>
              <a:t>A digital platform for event discovery, booking,
QR ticketing, check-in, schedules and engagement.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0CD"/>
                </a:solidFill>
                <a:latin typeface="Aptos"/>
              </a:rPr>
              <a:t>TEAM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6217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P. Srija — 2520090053
P. Praveena — 2520090057
D. Varun Teja Reddy — 2520090221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26364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5F7FF"/>
                </a:solidFill>
                <a:latin typeface="Aptos"/>
              </a:rPr>
              <a:t>2026</a:t>
            </a:r>
          </a:p>
        </p:txBody>
      </p:sp>
      <p:pic>
        <p:nvPicPr>
          <p:cNvPr id="16" name="Picture 15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0" y="4617720"/>
            <a:ext cx="1234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36D3D6"/>
                </a:solidFill>
                <a:latin typeface="Aptos"/>
              </a:rPr>
              <a:t>REVIEW - 1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010912"/>
            <a:ext cx="1234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5F7FF"/>
                </a:solidFill>
                <a:latin typeface="Aptos"/>
              </a:rPr>
              <a:t>DBMS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A concise overview of the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44200" cy="42519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D6"/>
                </a:solidFill>
                <a:latin typeface="Aptos"/>
              </a:rPr>
              <a:t>PROJECT ABSTRACT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992124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The Event Management Mobile Application for Attendee Self-Service is a web-based application designed to simplify and digitize the event participation process. Traditional event management often involves manual registration, paper tickets, long queues, and difficulty accessing event-related information. This application addresses these challenges by providing attendees with a single platform to independently manage their event activities.
The system allows users to register for events, browse event details, book tickets, access digital QR-based tickets, check in, view schedules, receive announcements, and provide feedback. An admin module enables organizers to create and manage events, monitor registrations, manage attendees, verify QR-based check-ins, and view event-related information.
The proposed system reduces manual effort, minimizes paperwork, improves check-in efficiency, and provides a convenient self-service experience for attendees.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ATTENDEE SELF-SERVICE</a:t>
            </a:r>
          </a:p>
        </p:txBody>
      </p:sp>
      <p:pic>
        <p:nvPicPr>
          <p:cNvPr id="9" name="Picture 8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Making event participation simple, digital and self-service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6629400" cy="429768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D6"/>
                </a:solidFill>
                <a:latin typeface="Aptos"/>
              </a:rP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F7FF"/>
                </a:solidFill>
                <a:latin typeface="Aptos"/>
              </a:rPr>
              <a:t>One platform for the complete attendee journey.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429000"/>
            <a:ext cx="274320" cy="27432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4290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1071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Discover and search upcoming events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886200"/>
            <a:ext cx="274320" cy="27432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6791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Register and book tickets online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343400"/>
            <a:ext cx="274320" cy="27432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3434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2511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Access a digital ticket with QR code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800600"/>
            <a:ext cx="274320" cy="27432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8231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View schedules, venues and announcements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5257800"/>
            <a:ext cx="274320" cy="27432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578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23951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Give feedback after attending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1828800"/>
            <a:ext cx="3794760" cy="4023360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1488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7E57FF"/>
                </a:solidFill>
                <a:latin typeface="Aptos"/>
              </a:rPr>
              <a:t>ATTENDEE JOURNEY</a:t>
            </a:r>
          </a:p>
        </p:txBody>
      </p:sp>
      <p:sp>
        <p:nvSpPr>
          <p:cNvPr id="25" name="Oval 24"/>
          <p:cNvSpPr/>
          <p:nvPr/>
        </p:nvSpPr>
        <p:spPr>
          <a:xfrm>
            <a:off x="9052560" y="2697480"/>
            <a:ext cx="502920" cy="502920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697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78892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7FF"/>
                </a:solidFill>
                <a:latin typeface="Aptos"/>
              </a:rPr>
              <a:t>DISCOVER</a:t>
            </a:r>
          </a:p>
        </p:txBody>
      </p:sp>
      <p:sp>
        <p:nvSpPr>
          <p:cNvPr id="28" name="Oval 27"/>
          <p:cNvSpPr/>
          <p:nvPr/>
        </p:nvSpPr>
        <p:spPr>
          <a:xfrm>
            <a:off x="9052560" y="3355848"/>
            <a:ext cx="502920" cy="502920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35584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3447287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7FF"/>
                </a:solidFill>
                <a:latin typeface="Aptos"/>
              </a:rPr>
              <a:t>BOOK</a:t>
            </a:r>
          </a:p>
        </p:txBody>
      </p:sp>
      <p:sp>
        <p:nvSpPr>
          <p:cNvPr id="31" name="Oval 30"/>
          <p:cNvSpPr/>
          <p:nvPr/>
        </p:nvSpPr>
        <p:spPr>
          <a:xfrm>
            <a:off x="9052560" y="4014216"/>
            <a:ext cx="502920" cy="502920"/>
          </a:xfrm>
          <a:prstGeom prst="ellipse">
            <a:avLst/>
          </a:prstGeom>
          <a:solidFill>
            <a:srgbClr val="36D3D6"/>
          </a:solidFill>
          <a:ln>
            <a:solidFill>
              <a:srgbClr val="36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401421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4105656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7FF"/>
                </a:solidFill>
                <a:latin typeface="Aptos"/>
              </a:rPr>
              <a:t>CHECK-IN</a:t>
            </a:r>
          </a:p>
        </p:txBody>
      </p:sp>
      <p:sp>
        <p:nvSpPr>
          <p:cNvPr id="34" name="Oval 33"/>
          <p:cNvSpPr/>
          <p:nvPr/>
        </p:nvSpPr>
        <p:spPr>
          <a:xfrm>
            <a:off x="9052560" y="4672584"/>
            <a:ext cx="502920" cy="50292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467258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764024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7FF"/>
                </a:solidFill>
                <a:latin typeface="Aptos"/>
              </a:rPr>
              <a:t>ENGAGE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9224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ATTENDEE SELF-SERVICE</a:t>
            </a:r>
          </a:p>
        </p:txBody>
      </p:sp>
      <p:pic>
        <p:nvPicPr>
          <p:cNvPr id="38" name="Picture 37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The challenge and what the project aims to achieve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57800" cy="44805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B5B99"/>
                </a:solidFill>
                <a:latin typeface="Aptos"/>
              </a:rPr>
              <a:t>PROBLEM STATEMENT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514600"/>
            <a:ext cx="347472" cy="347472"/>
          </a:xfrm>
          <a:prstGeom prst="ellipse">
            <a:avLst/>
          </a:prstGeom>
          <a:solidFill>
            <a:srgbClr val="EB5B99"/>
          </a:solidFill>
          <a:ln>
            <a:solidFill>
              <a:srgbClr val="EB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32888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Manual registration and data entry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172968"/>
            <a:ext cx="347472" cy="347472"/>
          </a:xfrm>
          <a:prstGeom prst="ellipse">
            <a:avLst/>
          </a:prstGeom>
          <a:solidFill>
            <a:srgbClr val="EB5B99"/>
          </a:solidFill>
          <a:ln>
            <a:solidFill>
              <a:srgbClr val="EB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91256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Long queues during event entry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31335"/>
            <a:ext cx="347472" cy="347472"/>
          </a:xfrm>
          <a:prstGeom prst="ellipse">
            <a:avLst/>
          </a:prstGeom>
          <a:solidFill>
            <a:srgbClr val="EB5B99"/>
          </a:solidFill>
          <a:ln>
            <a:solidFill>
              <a:srgbClr val="EB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3133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849624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Paper tickets and manual verification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489704"/>
            <a:ext cx="347472" cy="347472"/>
          </a:xfrm>
          <a:prstGeom prst="ellipse">
            <a:avLst/>
          </a:prstGeom>
          <a:solidFill>
            <a:srgbClr val="EB5B99"/>
          </a:solidFill>
          <a:ln>
            <a:solidFill>
              <a:srgbClr val="EB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970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507992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Scattered schedules and announcements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91640"/>
            <a:ext cx="5257800" cy="44805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9659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6D3D6"/>
                </a:solidFill>
                <a:latin typeface="Aptos"/>
              </a:rPr>
              <a:t>OBJECTIVES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2487168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48716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49631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Simplify registration and booking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008376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008376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017520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Enable attendee self-service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3529584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529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538728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Speed up QR-based check-in</a:t>
            </a:r>
          </a:p>
        </p:txBody>
      </p:sp>
      <p:sp>
        <p:nvSpPr>
          <p:cNvPr id="30" name="Oval 29"/>
          <p:cNvSpPr/>
          <p:nvPr/>
        </p:nvSpPr>
        <p:spPr>
          <a:xfrm>
            <a:off x="6492240" y="4050791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050791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059935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Improve digital communication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457200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5720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581144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Support organizer management</a:t>
            </a:r>
          </a:p>
        </p:txBody>
      </p:sp>
      <p:sp>
        <p:nvSpPr>
          <p:cNvPr id="36" name="Oval 35"/>
          <p:cNvSpPr/>
          <p:nvPr/>
        </p:nvSpPr>
        <p:spPr>
          <a:xfrm>
            <a:off x="6492240" y="5093208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09320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1023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Improve overall attendee experience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9224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ATTENDEE SELF-SERVICE</a:t>
            </a:r>
          </a:p>
        </p:txBody>
      </p:sp>
      <p:pic>
        <p:nvPicPr>
          <p:cNvPr id="40" name="Picture 39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Core functionality for attendees and organizers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5303520" cy="43891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6D3D6"/>
                </a:solidFill>
                <a:latin typeface="Aptos"/>
              </a:rPr>
              <a:t>ATTENDEE FEATURES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51460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Login &amp; registration</a:t>
            </a:r>
          </a:p>
        </p:txBody>
      </p:sp>
      <p:sp>
        <p:nvSpPr>
          <p:cNvPr id="10" name="Oval 9"/>
          <p:cNvSpPr/>
          <p:nvPr/>
        </p:nvSpPr>
        <p:spPr>
          <a:xfrm>
            <a:off x="3337560" y="251460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5146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Event discovery &amp; search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29184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9184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91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Ticket booking</a:t>
            </a:r>
          </a:p>
        </p:txBody>
      </p:sp>
      <p:sp>
        <p:nvSpPr>
          <p:cNvPr id="16" name="Oval 15"/>
          <p:cNvSpPr/>
          <p:nvPr/>
        </p:nvSpPr>
        <p:spPr>
          <a:xfrm>
            <a:off x="3337560" y="329184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329184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291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Digital QR ticket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06908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06908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69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Schedule &amp; venue details</a:t>
            </a:r>
          </a:p>
        </p:txBody>
      </p:sp>
      <p:sp>
        <p:nvSpPr>
          <p:cNvPr id="22" name="Oval 21"/>
          <p:cNvSpPr/>
          <p:nvPr/>
        </p:nvSpPr>
        <p:spPr>
          <a:xfrm>
            <a:off x="3337560" y="406908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406908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4069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Notifications &amp; announcements</a:t>
            </a:r>
          </a:p>
        </p:txBody>
      </p:sp>
      <p:sp>
        <p:nvSpPr>
          <p:cNvPr id="25" name="Oval 24"/>
          <p:cNvSpPr/>
          <p:nvPr/>
        </p:nvSpPr>
        <p:spPr>
          <a:xfrm>
            <a:off x="960120" y="484632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84632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Booking history</a:t>
            </a:r>
          </a:p>
        </p:txBody>
      </p:sp>
      <p:sp>
        <p:nvSpPr>
          <p:cNvPr id="28" name="Oval 27"/>
          <p:cNvSpPr/>
          <p:nvPr/>
        </p:nvSpPr>
        <p:spPr>
          <a:xfrm>
            <a:off x="3337560" y="484632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484632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4846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Feedback &amp; ratings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737360"/>
            <a:ext cx="5303520" cy="43891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01168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E57FF"/>
                </a:solidFill>
                <a:latin typeface="Aptos"/>
              </a:rPr>
              <a:t>ADMIN / ORGANIZER FEATURES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251460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5146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Create &amp; manage events</a:t>
            </a:r>
          </a:p>
        </p:txBody>
      </p:sp>
      <p:sp>
        <p:nvSpPr>
          <p:cNvPr id="36" name="Oval 35"/>
          <p:cNvSpPr/>
          <p:nvPr/>
        </p:nvSpPr>
        <p:spPr>
          <a:xfrm>
            <a:off x="8869680" y="251460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25146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59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Manage attendees</a:t>
            </a:r>
          </a:p>
        </p:txBody>
      </p:sp>
      <p:sp>
        <p:nvSpPr>
          <p:cNvPr id="39" name="Oval 38"/>
          <p:cNvSpPr/>
          <p:nvPr/>
        </p:nvSpPr>
        <p:spPr>
          <a:xfrm>
            <a:off x="6492240" y="329184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29184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3291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Booking overview</a:t>
            </a:r>
          </a:p>
        </p:txBody>
      </p:sp>
      <p:sp>
        <p:nvSpPr>
          <p:cNvPr id="42" name="Oval 41"/>
          <p:cNvSpPr/>
          <p:nvPr/>
        </p:nvSpPr>
        <p:spPr>
          <a:xfrm>
            <a:off x="8869680" y="329184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329184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59" y="3291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QR check-in verification</a:t>
            </a:r>
          </a:p>
        </p:txBody>
      </p:sp>
      <p:sp>
        <p:nvSpPr>
          <p:cNvPr id="45" name="Oval 44"/>
          <p:cNvSpPr/>
          <p:nvPr/>
        </p:nvSpPr>
        <p:spPr>
          <a:xfrm>
            <a:off x="6492240" y="406908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06908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069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Schedule management</a:t>
            </a:r>
          </a:p>
        </p:txBody>
      </p:sp>
      <p:sp>
        <p:nvSpPr>
          <p:cNvPr id="48" name="Oval 47"/>
          <p:cNvSpPr/>
          <p:nvPr/>
        </p:nvSpPr>
        <p:spPr>
          <a:xfrm>
            <a:off x="8869680" y="406908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9680" y="406908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9" y="4069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Announcements</a:t>
            </a:r>
          </a:p>
        </p:txBody>
      </p:sp>
      <p:sp>
        <p:nvSpPr>
          <p:cNvPr id="51" name="Oval 50"/>
          <p:cNvSpPr/>
          <p:nvPr/>
        </p:nvSpPr>
        <p:spPr>
          <a:xfrm>
            <a:off x="6492240" y="484632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484632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4846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Feedback monitoring</a:t>
            </a:r>
          </a:p>
        </p:txBody>
      </p:sp>
      <p:sp>
        <p:nvSpPr>
          <p:cNvPr id="54" name="Oval 53"/>
          <p:cNvSpPr/>
          <p:nvPr/>
        </p:nvSpPr>
        <p:spPr>
          <a:xfrm>
            <a:off x="8869680" y="484632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484632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59" y="4846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Dashboard analytics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49224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ATTENDEE SELF-SERVICE</a:t>
            </a:r>
          </a:p>
        </p:txBody>
      </p:sp>
      <p:pic>
        <p:nvPicPr>
          <p:cNvPr id="58" name="Picture 57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945a1dff-d404-4746-8f4d-61dbd3c7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11365992" cy="5833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SYSTEM ARCHITECTURE</a:t>
            </a:r>
          </a:p>
        </p:txBody>
      </p:sp>
      <p:pic>
        <p:nvPicPr>
          <p:cNvPr id="4" name="Picture 3" descr="822b5ecf-839c-4f00-b071-931697baba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Application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End-to-end attendee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5740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Register /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60604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8308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2011680"/>
            <a:ext cx="502920" cy="502920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5740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Browse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0604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8308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2011680"/>
            <a:ext cx="502920" cy="502920"/>
          </a:xfrm>
          <a:prstGeom prst="ellipse">
            <a:avLst/>
          </a:prstGeom>
          <a:solidFill>
            <a:srgbClr val="36D3D6"/>
          </a:solidFill>
          <a:ln>
            <a:solidFill>
              <a:srgbClr val="36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05740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View Details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60604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178308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35439" y="2011680"/>
            <a:ext cx="502920" cy="502920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39" y="2011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205740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Book Ticket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260604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93192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605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20624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Get QR Ticket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75488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393192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57600" y="4160520"/>
            <a:ext cx="502920" cy="50292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41605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20624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Check 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75488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93192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4160520"/>
            <a:ext cx="502920" cy="502920"/>
          </a:xfrm>
          <a:prstGeom prst="ellipse">
            <a:avLst/>
          </a:prstGeom>
          <a:solidFill>
            <a:srgbClr val="36D3D6"/>
          </a:solidFill>
          <a:ln>
            <a:solidFill>
              <a:srgbClr val="36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1605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20624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Attend Event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75488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59" y="393192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35439" y="4160520"/>
            <a:ext cx="502920" cy="502920"/>
          </a:xfrm>
          <a:prstGeom prst="ellipse">
            <a:avLst/>
          </a:prstGeom>
          <a:solidFill>
            <a:srgbClr val="EB5B99"/>
          </a:solidFill>
          <a:ln>
            <a:solidFill>
              <a:srgbClr val="EB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39" y="41605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19" y="420624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Give Feedback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19" y="475488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71600" y="5943600"/>
            <a:ext cx="9464040" cy="384048"/>
          </a:xfrm>
          <a:prstGeom prst="roundRect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54480" y="5998464"/>
            <a:ext cx="9098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5F7FF"/>
                </a:solidFill>
                <a:latin typeface="Aptos"/>
              </a:rPr>
              <a:t>DISCOVER  →  BOOK  →  VERIFY  →  ATTEND  →  ENGAGE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9224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ATTENDEE SELF-SERVICE</a:t>
            </a:r>
          </a:p>
        </p:txBody>
      </p:sp>
      <p:pic>
        <p:nvPicPr>
          <p:cNvPr id="48" name="Picture 47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Potential enhancements for a smarter event ecosystem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647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Online 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64792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0CD"/>
                </a:solidFill>
                <a:latin typeface="Aptos"/>
              </a:rPr>
              <a:t>Integrate secure payment gateways.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50591"/>
            <a:ext cx="411480" cy="411480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50591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78023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Push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478023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0CD"/>
                </a:solidFill>
                <a:latin typeface="Aptos"/>
              </a:rPr>
              <a:t>Send reminders and live updates.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63824"/>
            <a:ext cx="411480" cy="411480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63824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91256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AI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191256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0CD"/>
                </a:solidFill>
                <a:latin typeface="Aptos"/>
              </a:rPr>
              <a:t>Suggest events based on attendee interests.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877056"/>
            <a:ext cx="411480" cy="411480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77056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0448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Maps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904488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0CD"/>
                </a:solidFill>
                <a:latin typeface="Aptos"/>
              </a:rPr>
              <a:t>Provide directions and venue navigation.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590288"/>
            <a:ext cx="411480" cy="411480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9028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61772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Live event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61772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0CD"/>
                </a:solidFill>
                <a:latin typeface="Aptos"/>
              </a:rPr>
              <a:t>Show sessions, occupancy and real-time updates.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5303520"/>
            <a:ext cx="411480" cy="411480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33095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Advanced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5330952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0CD"/>
                </a:solidFill>
                <a:latin typeface="Aptos"/>
              </a:rPr>
              <a:t>Measure registration, attendance and engagement.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6144768"/>
            <a:ext cx="9601200" cy="310896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6190488"/>
            <a:ext cx="9235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36D3D6"/>
                </a:solidFill>
                <a:latin typeface="Aptos"/>
              </a:rPr>
              <a:t>Future vision: evolve from event booking into an intelligent event experience platform.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ATTENDEE SELF-SERVICE</a:t>
            </a:r>
          </a:p>
        </p:txBody>
      </p:sp>
      <p:pic>
        <p:nvPicPr>
          <p:cNvPr id="32" name="Picture 31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A unified platform for a smoother event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6812280" cy="388620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D6"/>
                </a:solidFill>
                <a:latin typeface="Aptos"/>
              </a:rPr>
              <a:t>IN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59893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F"/>
                </a:solidFill>
                <a:latin typeface="Aptos"/>
              </a:rPr>
              <a:t>The Event Management Mobile Application transforms the attendee journey by combining registration, booking, digital ticketing, QR check-in, schedules, notifications and feedback in one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5806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0CD"/>
                </a:solidFill>
                <a:latin typeface="Aptos"/>
              </a:rPr>
              <a:t>It reduces manual effort, minimizes paperwork and gives organizers a centralized way to manage events and attendees.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783080"/>
            <a:ext cx="3337560" cy="3886200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148840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7E57FF"/>
                </a:solidFill>
                <a:latin typeface="Aptos"/>
              </a:rP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697480"/>
            <a:ext cx="27889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5F7FF"/>
                </a:solidFill>
                <a:latin typeface="Aptos"/>
              </a:rPr>
              <a:t>SELF-SERVICE
+
DIGITAL ACCESS
+
FASTER CHECK-IN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F"/>
                </a:solidFill>
                <a:latin typeface="Aptos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605332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0CD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EVENT MANAGEMENT • ATTENDEE SELF-SERVICE</a:t>
            </a:r>
          </a:p>
        </p:txBody>
      </p:sp>
      <p:pic>
        <p:nvPicPr>
          <p:cNvPr id="15" name="Picture 14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